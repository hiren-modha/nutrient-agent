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e990438e77394f31" /><Relationship Type="http://schemas.openxmlformats.org/package/2006/relationships/metadata/core-properties" Target="/docProps/core.xml" Id="R42385359cfe942bf" /><Relationship Type="http://schemas.openxmlformats.org/officeDocument/2006/relationships/extended-properties" Target="/docProps/app.xml" Id="Rb0c7fc26ecdb4ef4" /><Relationship Type="http://schemas.openxmlformats.org/officeDocument/2006/relationships/custom-properties" Target="/docProps/custom.xml" Id="R6b6d9d273ada402b"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f168d1daf1de4907"/>
  </p:notesMasterIdLst>
  <p:sldIdLst>
    <p:sldId id="256" r:id="R8e86dffa27214ff5"/>
    <p:sldId id="257" r:id="Rcf536fc2df5c4888"/>
    <p:sldId id="258" r:id="R614e506a5e6f438f"/>
    <p:sldId id="259" r:id="Rb0f3b25d6d7249af"/>
    <p:sldId id="260" r:id="Rf5d3fdd19d4e4f40"/>
    <p:sldId id="261" r:id="R6bd7c3da0e9b44d5"/>
    <p:sldId id="262" r:id="R794002083e134ff2"/>
    <p:sldId id="263" r:id="R659333305bb44497"/>
    <p:sldId id="264" r:id="R16a9544fd7aa40e0"/>
    <p:sldId id="265" r:id="R28c8716583364437"/>
    <p:sldId id="266" r:id="Rc9b3ae0f57c64812"/>
    <p:sldId id="267" r:id="R615e69a66bba4f5c"/>
    <p:sldId id="268" r:id="Rb164cd1e8c064aab"/>
    <p:sldId id="269" r:id="Rab6f7ee5a94d4c5a"/>
    <p:sldId id="270" r:id="R56db7e532869448e"/>
    <p:sldId id="271" r:id="R9444e7ed9ba04bb4"/>
    <p:sldId id="272" r:id="R2cb46aa2c1c947db"/>
    <p:sldId id="273" r:id="R35fc8aba22334399"/>
    <p:sldId id="274" r:id="R4ce5847a623649a5"/>
    <p:sldId id="275" r:id="Rdfed1e949d7046cf"/>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8e86dffa27214ff5" /><Relationship Type="http://schemas.openxmlformats.org/officeDocument/2006/relationships/notesMaster" Target="/ppt/notesMasters/notesMaster1.xml" Id="Rf168d1daf1de4907" /><Relationship Type="http://schemas.openxmlformats.org/officeDocument/2006/relationships/slide" Target="/ppt/slides/slide2.xml" Id="Rcf536fc2df5c4888" /><Relationship Type="http://schemas.openxmlformats.org/officeDocument/2006/relationships/slide" Target="/ppt/slides/slide3.xml" Id="R614e506a5e6f438f" /><Relationship Type="http://schemas.openxmlformats.org/officeDocument/2006/relationships/slide" Target="/ppt/slides/slide4.xml" Id="Rb0f3b25d6d7249af" /><Relationship Type="http://schemas.openxmlformats.org/officeDocument/2006/relationships/slide" Target="/ppt/slides/slide5.xml" Id="Rf5d3fdd19d4e4f40" /><Relationship Type="http://schemas.openxmlformats.org/officeDocument/2006/relationships/slide" Target="/ppt/slides/slide6.xml" Id="R6bd7c3da0e9b44d5" /><Relationship Type="http://schemas.openxmlformats.org/officeDocument/2006/relationships/slide" Target="/ppt/slides/slide7.xml" Id="R794002083e134ff2" /><Relationship Type="http://schemas.openxmlformats.org/officeDocument/2006/relationships/slide" Target="/ppt/slides/slide8.xml" Id="R659333305bb44497" /><Relationship Type="http://schemas.openxmlformats.org/officeDocument/2006/relationships/slide" Target="/ppt/slides/slide9.xml" Id="R16a9544fd7aa40e0" /><Relationship Type="http://schemas.openxmlformats.org/officeDocument/2006/relationships/slide" Target="/ppt/slides/slide10.xml" Id="R28c8716583364437" /><Relationship Type="http://schemas.openxmlformats.org/officeDocument/2006/relationships/slide" Target="/ppt/slides/slide11.xml" Id="Rc9b3ae0f57c64812" /><Relationship Type="http://schemas.openxmlformats.org/officeDocument/2006/relationships/slide" Target="/ppt/slides/slide12.xml" Id="R615e69a66bba4f5c" /><Relationship Type="http://schemas.openxmlformats.org/officeDocument/2006/relationships/slide" Target="/ppt/slides/slide13.xml" Id="Rb164cd1e8c064aab" /><Relationship Type="http://schemas.openxmlformats.org/officeDocument/2006/relationships/slide" Target="/ppt/slides/slide14.xml" Id="Rab6f7ee5a94d4c5a" /><Relationship Type="http://schemas.openxmlformats.org/officeDocument/2006/relationships/slide" Target="/ppt/slides/slide15.xml" Id="R56db7e532869448e" /><Relationship Type="http://schemas.openxmlformats.org/officeDocument/2006/relationships/slide" Target="/ppt/slides/slide16.xml" Id="R9444e7ed9ba04bb4" /><Relationship Type="http://schemas.openxmlformats.org/officeDocument/2006/relationships/slide" Target="/ppt/slides/slide17.xml" Id="R2cb46aa2c1c947db" /><Relationship Type="http://schemas.openxmlformats.org/officeDocument/2006/relationships/slide" Target="/ppt/slides/slide18.xml" Id="R35fc8aba22334399" /><Relationship Type="http://schemas.openxmlformats.org/officeDocument/2006/relationships/slide" Target="/ppt/slides/slide19.xml" Id="R4ce5847a623649a5" /><Relationship Type="http://schemas.openxmlformats.org/officeDocument/2006/relationships/slide" Target="/ppt/slides/slide20.xml" Id="Rdfed1e949d7046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7ed5fed26564750"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20d54ee131e241fd" /><Relationship Type="http://schemas.openxmlformats.org/officeDocument/2006/relationships/slide" Target="/ppt/slides/slide1.xml" Id="R36fec50e550c48cc"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5b63b6a6fc33420a" /><Relationship Type="http://schemas.openxmlformats.org/officeDocument/2006/relationships/slide" Target="/ppt/slides/slide2.xml" Id="R0f40aedeec724daa"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6f40ffbbfddc4eae" /><Relationship Type="http://schemas.openxmlformats.org/officeDocument/2006/relationships/slide" Target="/ppt/slides/slide3.xml" Id="Rcfbed565c3bf4a35"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506a1c19febe46df" /><Relationship Type="http://schemas.openxmlformats.org/officeDocument/2006/relationships/slide" Target="/ppt/slides/slide4.xml" Id="R34d3d515ea6f45c8"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e21f76959cb549da" /><Relationship Type="http://schemas.openxmlformats.org/officeDocument/2006/relationships/slide" Target="/ppt/slides/slide5.xml" Id="R7b171ee9d4844a08"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819d1a11b44044a5" /><Relationship Type="http://schemas.openxmlformats.org/officeDocument/2006/relationships/slide" Target="/ppt/slides/slide6.xml" Id="R4ec383fe6509467b"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004f00ca50254a15" /><Relationship Type="http://schemas.openxmlformats.org/officeDocument/2006/relationships/slide" Target="/ppt/slides/slide7.xml" Id="R8883fbf42acc4ba1"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3de1e625aa4f41b5" /><Relationship Type="http://schemas.openxmlformats.org/officeDocument/2006/relationships/slide" Target="/ppt/slides/slide8.xml" Id="R4064a83c08e14530"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3b58a5e70af14ad3" /><Relationship Type="http://schemas.openxmlformats.org/officeDocument/2006/relationships/slide" Target="/ppt/slides/slide9.xml" Id="R6137ec01db90432a"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34c6f3a179484323" /><Relationship Type="http://schemas.openxmlformats.org/officeDocument/2006/relationships/slide" Target="/ppt/slides/slide10.xml" Id="Rbda2ab3cdcf340f2"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ec327477b8ad419c" /><Relationship Type="http://schemas.openxmlformats.org/officeDocument/2006/relationships/slide" Target="/ppt/slides/slide11.xml" Id="R6a5c707dab514c51"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3b21d91dee514921" /><Relationship Type="http://schemas.openxmlformats.org/officeDocument/2006/relationships/slide" Target="/ppt/slides/slide12.xml" Id="Rc46d6af2b082494e"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c6431358df61427f" /><Relationship Type="http://schemas.openxmlformats.org/officeDocument/2006/relationships/slide" Target="/ppt/slides/slide13.xml" Id="Rf9d8ee1a5cd446db"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a59b4e2d12ef4955" /><Relationship Type="http://schemas.openxmlformats.org/officeDocument/2006/relationships/slide" Target="/ppt/slides/slide14.xml" Id="R3c14c071422e48fc"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ed2556585ffc4296" /><Relationship Type="http://schemas.openxmlformats.org/officeDocument/2006/relationships/slide" Target="/ppt/slides/slide15.xml" Id="R181236359527495d"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a72eec944d9e4190" /><Relationship Type="http://schemas.openxmlformats.org/officeDocument/2006/relationships/slide" Target="/ppt/slides/slide16.xml" Id="Ra5ff53b890a74044"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45aca48b3d9c43ed" /><Relationship Type="http://schemas.openxmlformats.org/officeDocument/2006/relationships/slide" Target="/ppt/slides/slide17.xml" Id="Red8c9c70070649b4" /></Relationships>
</file>

<file path=ppt/notesSlides/_rels/notesSlide18.xml.rels>&#65279;<?xml version="1.0" encoding="utf-8"?><Relationships xmlns="http://schemas.openxmlformats.org/package/2006/relationships"><Relationship Type="http://schemas.openxmlformats.org/officeDocument/2006/relationships/notesMaster" Target="/ppt/notesMasters/notesMaster1.xml" Id="R652b1ea747e34664" /><Relationship Type="http://schemas.openxmlformats.org/officeDocument/2006/relationships/slide" Target="/ppt/slides/slide18.xml" Id="R9cafb16d6edf4850" /></Relationships>
</file>

<file path=ppt/notesSlides/_rels/notesSlide19.xml.rels>&#65279;<?xml version="1.0" encoding="utf-8"?><Relationships xmlns="http://schemas.openxmlformats.org/package/2006/relationships"><Relationship Type="http://schemas.openxmlformats.org/officeDocument/2006/relationships/notesMaster" Target="/ppt/notesMasters/notesMaster1.xml" Id="R353a7993e24749af" /><Relationship Type="http://schemas.openxmlformats.org/officeDocument/2006/relationships/slide" Target="/ppt/slides/slide19.xml" Id="R43d7926e629d4d2a" /></Relationships>
</file>

<file path=ppt/notesSlides/_rels/notesSlide20.xml.rels>&#65279;<?xml version="1.0" encoding="utf-8"?><Relationships xmlns="http://schemas.openxmlformats.org/package/2006/relationships"><Relationship Type="http://schemas.openxmlformats.org/officeDocument/2006/relationships/notesMaster" Target="/ppt/notesMasters/notesMaster1.xml" Id="R6287bfd4830145ea" /><Relationship Type="http://schemas.openxmlformats.org/officeDocument/2006/relationships/slide" Target="/ppt/slides/slide20.xml" Id="R4d057d79ccf14c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 NutriBot is a full-stack Agentic AI web application that generates personalized nutrition plans using IBM Granite LLM (ibm/granite-13b-instruct-v2) via IBM watsonx.ai. Built with Flask and Python, following all phases of the Agentic AI SDLC.</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Agenda slide listing all 20 topics covered in this presentation.</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NutriBot collects user details (name, age, diet, medical history, location, goals), sends them to IBM Granite, and returns a full personalized nutrition plan — all saved automatically as a .md file.</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core problem: affordable, personalised, medically-aware nutrition advice is inaccessible to most people. NutriBot solves this with IBM Granite AI.</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All 6 SDLC phases are implemented in code. The NutritionAgent class orchestrates all phases automatically on every plan generation request.</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Layered architecture: Browser UI calls Flask REST API, which routes to the appropriate agent, which calls utils including the IBM Granite client. The client exchanges IBM Cloud API key for IAM token and calls watsonx.ai.</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granite_client.py module handles IAM token exchange, constructs the watsonx.ai payload with the HAM system context, and falls back to an intelligent rule-based engine when credentials are absent.</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HAM framework is embedded in the system context prompt sent to IBM Granite. The 5-layer safety pipeline runs on both the input (before the LLM call) and the output (after the LLM response).</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single-page web application has 4 tabs. The Generate Plan tab has a 3-step wizard that collects user profile, diet preferences, and goals before calling the IBM Granite agent to produce the plan.</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3-step form collects name, age, weight, height, city, country (step 1), diet preference, medical history, allergies (step 2), and health goals (step 3). Each step is validated before proceeding.</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UI shows an animated 4-step loading sequence while IBM Granite generates the plan. Once complete, the plan is rendered in Markdown HTML with Copy, Download .md, and New Plan action buttons.</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QueryAgent first checks a built-in FAQ dictionary for common questions (instant response), then falls back to IBM Granite for novel questions. All answers are safety-screened before display.</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actual plan generated by IBM Granite for Priya Sharma (32, vegetarian, Type 2 Diabetes, Mumbai). All meals are low-glycaemic index, low-sodium, diabetes-appropriate. Plan saved as YAML .md file.</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Ravi Kumar's plan is adapted for hypertension: DASH diet principles, strict low-sodium recommendations, potassium-rich foods, and limited caffeine. IBM Granite tailors the entire plan based on the medical condition.</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nutritional targets table shows how IBM Granite adapts daily nutrient goals based on medical conditions. Sodium and sugar limits are significantly reduced for diabetes and hypertension profiles.</a:t>
            </a: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Every generated plan is saved as a Markdown file with YAML front-matter containing metadata (model, timestamp, user profile). The Plans History browser lets users re-load any saved plan from the API.</a:t>
            </a: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repository is live at github.com/Hiren-Modha/Nutrient-Agent with 21 files committed. The run_nutribot.bat provides a zero-friction Windows launcher that handles everything automatically.</a:t>
            </a:r>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AI ethics are not just documented — they are enforced in code. The 5-layer guardrail pipeline runs on every API call. The medical disclaimer is automatically appended and cannot be removed.</a:t>
            </a:r>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project uses zero external CSS/JS frameworks for the frontend — everything is plain HTML5, CSS3, and Vanilla JS. This keeps dependencies minimal and the application fully self-contained.</a:t>
            </a:r>
          </a:p>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Final summary slide. NutriBot successfully implements all requested features: IBM Granite LLM integration, personalized nutrition plans, AI ethics guardrails, .md file saving, GitHub deployment, and full web application. All 7 live API tests passed.</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2b7f2b16584c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36d6659133048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e68f7b284440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f7bc04514e44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81727a81c24530"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55879e1694814bf4"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e4f44e43dc3a46a9" /><Relationship Type="http://schemas.openxmlformats.org/officeDocument/2006/relationships/notesSlide" Target="/ppt/notesSlides/notesSlide1.xml" Id="R90524665424b4a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db149d78614d30" /><Relationship Type="http://schemas.openxmlformats.org/officeDocument/2006/relationships/notesSlide" Target="/ppt/notesSlides/notesSlide2.xml" Id="R3e05b93bc4b24e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6e24439aef47f2" /><Relationship Type="http://schemas.openxmlformats.org/officeDocument/2006/relationships/notesSlide" Target="/ppt/notesSlides/notesSlide3.xml" Id="R2eb1b39ab2874d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efd6ffba9d473f" /><Relationship Type="http://schemas.openxmlformats.org/officeDocument/2006/relationships/notesSlide" Target="/ppt/notesSlides/notesSlide4.xml" Id="R7b4e49e496df47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a7cb068ab14567" /><Relationship Type="http://schemas.openxmlformats.org/officeDocument/2006/relationships/notesSlide" Target="/ppt/notesSlides/notesSlide5.xml" Id="R879949b22fb34f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6b0100098c432e" /><Relationship Type="http://schemas.openxmlformats.org/officeDocument/2006/relationships/notesSlide" Target="/ppt/notesSlides/notesSlide6.xml" Id="Rde81c3c3627143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a46ff5c53e47dd" /><Relationship Type="http://schemas.openxmlformats.org/officeDocument/2006/relationships/notesSlide" Target="/ppt/notesSlides/notesSlide7.xml" Id="R5baad35527f246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1b3c56a83a4ce5" /><Relationship Type="http://schemas.openxmlformats.org/officeDocument/2006/relationships/notesSlide" Target="/ppt/notesSlides/notesSlide8.xml" Id="Rfd16ec85202d4f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554d413bfd4115" /><Relationship Type="http://schemas.openxmlformats.org/officeDocument/2006/relationships/notesSlide" Target="/ppt/notesSlides/notesSlide9.xml" Id="R3096daf6ec3c4d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ffd1605eb054a45" /><Relationship Type="http://schemas.openxmlformats.org/officeDocument/2006/relationships/notesSlide" Target="/ppt/notesSlides/notesSlide10.xml" Id="Rb61d38dc72cf4a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dcf0930b96142e7" /><Relationship Type="http://schemas.openxmlformats.org/officeDocument/2006/relationships/notesSlide" Target="/ppt/notesSlides/notesSlide11.xml" Id="R1f79fa1935d147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1fc5e9eb6db4f7d" /><Relationship Type="http://schemas.openxmlformats.org/officeDocument/2006/relationships/notesSlide" Target="/ppt/notesSlides/notesSlide12.xml" Id="Refe4c6df875643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1335ec72374a45" /><Relationship Type="http://schemas.openxmlformats.org/officeDocument/2006/relationships/notesSlide" Target="/ppt/notesSlides/notesSlide13.xml" Id="Rd9a77979eda24e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9ed8dc513ea40be" /><Relationship Type="http://schemas.openxmlformats.org/officeDocument/2006/relationships/notesSlide" Target="/ppt/notesSlides/notesSlide14.xml" Id="R1dd84c7e02cb4d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c5a4983ccf64105" /><Relationship Type="http://schemas.openxmlformats.org/officeDocument/2006/relationships/notesSlide" Target="/ppt/notesSlides/notesSlide15.xml" Id="R3702264cbf6f42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4aeaac6c8b84ef7" /><Relationship Type="http://schemas.openxmlformats.org/officeDocument/2006/relationships/notesSlide" Target="/ppt/notesSlides/notesSlide16.xml" Id="R50dcf4b32e834f3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ac8250289894c32" /><Relationship Type="http://schemas.openxmlformats.org/officeDocument/2006/relationships/notesSlide" Target="/ppt/notesSlides/notesSlide17.xml" Id="Rdcf939edb6cb4b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9c3905f733a4d2d" /><Relationship Type="http://schemas.openxmlformats.org/officeDocument/2006/relationships/notesSlide" Target="/ppt/notesSlides/notesSlide18.xml" Id="Rb31abf51d6994e1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1f16b8b5c7c499f" /><Relationship Type="http://schemas.openxmlformats.org/officeDocument/2006/relationships/notesSlide" Target="/ppt/notesSlides/notesSlide19.xml" Id="R2dac1a0699604d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c91b48198c047fb" /><Relationship Type="http://schemas.openxmlformats.org/officeDocument/2006/relationships/notesSlide" Target="/ppt/notesSlides/notesSlide20.xml" Id="Rd12912b1f0ea444b" /></Relationships>
</file>

<file path=ppt/slides/slide1.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00"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001" name="AccentLine"/>
          <p:cNvSpPr txBox="1"/>
          <p:nvPr/>
        </p:nvSpPr>
        <p:spPr>
          <a:xfrm xmlns:a="http://schemas.openxmlformats.org/drawingml/2006/main">
            <a:off x="0" y="216000"/>
            <a:ext cx="12193200" cy="432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002" name="MainTitle"/>
          <p:cNvSpPr txBox="1"/>
          <p:nvPr/>
        </p:nvSpPr>
        <p:spPr>
          <a:xfrm xmlns:a="http://schemas.openxmlformats.org/drawingml/2006/main">
            <a:off x="900000" y="1260000"/>
            <a:ext cx="10080000" cy="12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7200" b="1">
                <a:solidFill>
                  <a:srgbClr val="FFFFFF"/>
                </a:solidFill>
                <a:latin typeface="Calibri"/>
                <a:ea typeface="Calibri"/>
              </a:rPr>
              <a:t>NutriBot</a:t>
            </a:r>
          </a:p>
        </p:txBody>
      </p:sp>
      <p:sp>
        <p:nvSpPr>
          <p:cNvPr id="100003" name="Subtitle"/>
          <p:cNvSpPr txBox="1"/>
          <p:nvPr/>
        </p:nvSpPr>
        <p:spPr>
          <a:xfrm xmlns:a="http://schemas.openxmlformats.org/drawingml/2006/main">
            <a:off x="900000" y="2592000"/>
            <a:ext cx="1008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0">
                <a:solidFill>
                  <a:srgbClr val="82CFFF"/>
                </a:solidFill>
                <a:latin typeface="Calibri"/>
                <a:ea typeface="Calibri"/>
              </a:rPr>
              <a:t>IBM Granite Nutrition Agentic AI</a:t>
            </a:r>
          </a:p>
        </p:txBody>
      </p:sp>
      <p:sp>
        <p:nvSpPr>
          <p:cNvPr id="100004" name="TagLine"/>
          <p:cNvSpPr txBox="1"/>
          <p:nvPr/>
        </p:nvSpPr>
        <p:spPr>
          <a:xfrm xmlns:a="http://schemas.openxmlformats.org/drawingml/2006/main">
            <a:off x="900000" y="3312000"/>
            <a:ext cx="1008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0">
                <a:solidFill>
                  <a:srgbClr val="A8B8C8"/>
                </a:solidFill>
                <a:latin typeface="Calibri"/>
                <a:ea typeface="Calibri"/>
              </a:rPr>
              <a:t>Personalized Nutrition Planning Powered by ibm/granite-13b-instruct-v2 via IBM watsonx.ai</a:t>
            </a:r>
          </a:p>
        </p:txBody>
      </p:sp>
      <p:sp>
        <p:nvSpPr>
          <p:cNvPr id="100005"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b="0">
                <a:solidFill>
                  <a:srgbClr val="FFFFFF"/>
                </a:solidFill>
              </a:rPr>
              <a:t>GitHub: github.com/Hiren-Modha/Nutrient-Agent  |  Flask + Python + IBM watsonx.ai</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6"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007"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0D1B2A"/>
                </a:solidFill>
                <a:latin typeface="Calibri"/>
                <a:ea typeface="Calibri"/>
              </a:rPr>
              <a:t>Agenda</a:t>
            </a:r>
          </a:p>
        </p:txBody>
      </p:sp>
      <p:sp>
        <p:nvSpPr>
          <p:cNvPr id="100008"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0F62FE"/>
              </a:solidFill>
            </a:endParaRPr>
          </a:p>
        </p:txBody>
      </p:sp>
      <p:sp>
        <p:nvSpPr>
          <p:cNvPr id="100009" name="Col1"/>
          <p:cNvSpPr txBox="1"/>
          <p:nvPr/>
        </p:nvSpPr>
        <p:spPr>
          <a:xfrm xmlns:a="http://schemas.openxmlformats.org/drawingml/2006/main">
            <a:off x="720000" y="1152000"/>
            <a:ext cx="5040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0">
                <a:solidFill>
                  <a:srgbClr val="1C2B4A"/>
                </a:solidFill>
                <a:latin typeface="Calibri"/>
                <a:ea typeface="Calibri"/>
              </a:rPr>
              <a:t>01  Project Overview</a:t>
            </a:r>
          </a:p>
          <a:p xmlns:a="http://schemas.openxmlformats.org/drawingml/2006/main">
            <a:r>
              <a:rPr lang="en-US" sz="2000" b="0">
                <a:solidFill>
                  <a:srgbClr val="1C2B4A"/>
                </a:solidFill>
                <a:latin typeface="Calibri"/>
                <a:ea typeface="Calibri"/>
              </a:rPr>
              <a:t>02  Problem Statement</a:t>
            </a:r>
          </a:p>
          <a:p xmlns:a="http://schemas.openxmlformats.org/drawingml/2006/main">
            <a:r>
              <a:rPr lang="en-US" sz="2000" b="0">
                <a:solidFill>
                  <a:srgbClr val="1C2B4A"/>
                </a:solidFill>
                <a:latin typeface="Calibri"/>
                <a:ea typeface="Calibri"/>
              </a:rPr>
              <a:t>03  Agentic AI SDLC</a:t>
            </a:r>
          </a:p>
          <a:p xmlns:a="http://schemas.openxmlformats.org/drawingml/2006/main">
            <a:r>
              <a:rPr lang="en-US" sz="2000" b="0">
                <a:solidFill>
                  <a:srgbClr val="1C2B4A"/>
                </a:solidFill>
                <a:latin typeface="Calibri"/>
                <a:ea typeface="Calibri"/>
              </a:rPr>
              <a:t>04  System Architecture</a:t>
            </a:r>
          </a:p>
          <a:p xmlns:a="http://schemas.openxmlformats.org/drawingml/2006/main">
            <a:r>
              <a:rPr lang="en-US" sz="2000" b="0">
                <a:solidFill>
                  <a:srgbClr val="1C2B4A"/>
                </a:solidFill>
                <a:latin typeface="Calibri"/>
                <a:ea typeface="Calibri"/>
              </a:rPr>
              <a:t>05  IBM Granite Integration</a:t>
            </a:r>
          </a:p>
        </p:txBody>
      </p:sp>
      <p:sp>
        <p:nvSpPr>
          <p:cNvPr id="100010" name="Col2"/>
          <p:cNvSpPr txBox="1"/>
          <p:nvPr/>
        </p:nvSpPr>
        <p:spPr>
          <a:xfrm xmlns:a="http://schemas.openxmlformats.org/drawingml/2006/main">
            <a:off x="6120000" y="1152000"/>
            <a:ext cx="5040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0">
                <a:solidFill>
                  <a:srgbClr val="1C2B4A"/>
                </a:solidFill>
                <a:latin typeface="Calibri"/>
                <a:ea typeface="Calibri"/>
              </a:rPr>
              <a:t>06  Features &amp; Guardrails</a:t>
            </a:r>
          </a:p>
          <a:p xmlns:a="http://schemas.openxmlformats.org/drawingml/2006/main">
            <a:r>
              <a:rPr lang="en-US" sz="2000" b="0">
                <a:solidFill>
                  <a:srgbClr val="1C2B4A"/>
                </a:solidFill>
                <a:latin typeface="Calibri"/>
                <a:ea typeface="Calibri"/>
              </a:rPr>
              <a:t>07  Web Application UI</a:t>
            </a:r>
          </a:p>
          <a:p xmlns:a="http://schemas.openxmlformats.org/drawingml/2006/main">
            <a:r>
              <a:rPr lang="en-US" sz="2000" b="0">
                <a:solidFill>
                  <a:srgbClr val="1C2B4A"/>
                </a:solidFill>
                <a:latin typeface="Calibri"/>
                <a:ea typeface="Calibri"/>
              </a:rPr>
              <a:t>08  User Profile Form</a:t>
            </a:r>
          </a:p>
          <a:p xmlns:a="http://schemas.openxmlformats.org/drawingml/2006/main">
            <a:r>
              <a:rPr lang="en-US" sz="2000" b="0">
                <a:solidFill>
                  <a:srgbClr val="1C2B4A"/>
                </a:solidFill>
                <a:latin typeface="Calibri"/>
                <a:ea typeface="Calibri"/>
              </a:rPr>
              <a:t>09  Plan Generation Output</a:t>
            </a:r>
          </a:p>
          <a:p xmlns:a="http://schemas.openxmlformats.org/drawingml/2006/main">
            <a:r>
              <a:rPr lang="en-US" sz="2000" b="0">
                <a:solidFill>
                  <a:srgbClr val="1C2B4A"/>
                </a:solidFill>
                <a:latin typeface="Calibri"/>
                <a:ea typeface="Calibri"/>
              </a:rPr>
              <a:t>10  Chat Q&amp;A Agent</a:t>
            </a:r>
          </a:p>
        </p:txBody>
      </p:sp>
      <p:sp>
        <p:nvSpPr>
          <p:cNvPr id="100011" name="Col3"/>
          <p:cNvSpPr txBox="1"/>
          <p:nvPr/>
        </p:nvSpPr>
        <p:spPr>
          <a:xfrm xmlns:a="http://schemas.openxmlformats.org/drawingml/2006/main">
            <a:off x="720000" y="4248000"/>
            <a:ext cx="1044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0">
                <a:solidFill>
                  <a:srgbClr val="525252"/>
                </a:solidFill>
                <a:latin typeface="Calibri"/>
                <a:ea typeface="Calibri"/>
              </a:rPr>
              <a:t>11  Sample Plan — Priya Sharma</a:t>
            </a:r>
          </a:p>
          <a:p xmlns:a="http://schemas.openxmlformats.org/drawingml/2006/main">
            <a:r>
              <a:rPr lang="en-US" sz="1800" b="0">
                <a:solidFill>
                  <a:srgbClr val="525252"/>
                </a:solidFill>
                <a:latin typeface="Calibri"/>
                <a:ea typeface="Calibri"/>
              </a:rPr>
              <a:t>12  Sample Plan — Ravi Kumar</a:t>
            </a:r>
          </a:p>
          <a:p xmlns:a="http://schemas.openxmlformats.org/drawingml/2006/main">
            <a:r>
              <a:rPr lang="en-US" sz="1800" b="0">
                <a:solidFill>
                  <a:srgbClr val="525252"/>
                </a:solidFill>
                <a:latin typeface="Calibri"/>
                <a:ea typeface="Calibri"/>
              </a:rPr>
              <a:t>13  Nutrition Targets</a:t>
            </a:r>
          </a:p>
          <a:p xmlns:a="http://schemas.openxmlformats.org/drawingml/2006/main">
            <a:r>
              <a:rPr lang="en-US" sz="1800" b="0">
                <a:solidFill>
                  <a:srgbClr val="525252"/>
                </a:solidFill>
                <a:latin typeface="Calibri"/>
                <a:ea typeface="Calibri"/>
              </a:rPr>
              <a:t>14  Saved Plans &amp; .md Files</a:t>
            </a:r>
          </a:p>
          <a:p xmlns:a="http://schemas.openxmlformats.org/drawingml/2006/main">
            <a:r>
              <a:rPr lang="en-US" sz="1800" b="0">
                <a:solidFill>
                  <a:srgbClr val="525252"/>
                </a:solidFill>
                <a:latin typeface="Calibri"/>
                <a:ea typeface="Calibri"/>
              </a:rPr>
              <a:t>15  GitHub Deployment</a:t>
            </a:r>
          </a:p>
          <a:p xmlns:a="http://schemas.openxmlformats.org/drawingml/2006/main">
            <a:r>
              <a:rPr lang="en-US" sz="1800" b="0">
                <a:solidFill>
                  <a:srgbClr val="525252"/>
                </a:solidFill>
                <a:latin typeface="Calibri"/>
                <a:ea typeface="Calibri"/>
              </a:rPr>
              <a:t>16  AI Ethics &amp; HAM</a:t>
            </a:r>
          </a:p>
          <a:p xmlns:a="http://schemas.openxmlformats.org/drawingml/2006/main">
            <a:r>
              <a:rPr lang="en-US" sz="1800" b="0">
                <a:solidFill>
                  <a:srgbClr val="525252"/>
                </a:solidFill>
                <a:latin typeface="Calibri"/>
                <a:ea typeface="Calibri"/>
              </a:rPr>
              <a:t>17  Medical Disclaimer</a:t>
            </a:r>
          </a:p>
          <a:p xmlns:a="http://schemas.openxmlformats.org/drawingml/2006/main">
            <a:r>
              <a:rPr lang="en-US" sz="1800" b="0">
                <a:solidFill>
                  <a:srgbClr val="525252"/>
                </a:solidFill>
                <a:latin typeface="Calibri"/>
                <a:ea typeface="Calibri"/>
              </a:rPr>
              <a:t>18  Tech Stack</a:t>
            </a:r>
          </a:p>
          <a:p xmlns:a="http://schemas.openxmlformats.org/drawingml/2006/main">
            <a:r>
              <a:rPr lang="en-US" sz="1800" b="0">
                <a:solidFill>
                  <a:srgbClr val="525252"/>
                </a:solidFill>
                <a:latin typeface="Calibri"/>
                <a:ea typeface="Calibri"/>
              </a:rPr>
              <a:t>19  How to Run</a:t>
            </a:r>
          </a:p>
          <a:p xmlns:a="http://schemas.openxmlformats.org/drawingml/2006/main">
            <a:r>
              <a:rPr lang="en-US" sz="1800" b="0">
                <a:solidFill>
                  <a:srgbClr val="525252"/>
                </a:solidFill>
                <a:latin typeface="Calibri"/>
                <a:ea typeface="Calibri"/>
              </a:rPr>
              <a:t>20  Summary &amp; Q&amp;A</a:t>
            </a:r>
          </a:p>
        </p:txBody>
      </p:sp>
      <p:sp>
        <p:nvSpPr>
          <p:cNvPr id="100012"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200" b="0">
                <a:solidFill>
                  <a:srgbClr val="A8B8C8"/>
                </a:solidFill>
              </a:rPr>
              <a:t>NutriBot — IBM Granite Nutrition Agentic AI</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3"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014"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0D1B2A"/>
                </a:solidFill>
                <a:latin typeface="Calibri"/>
                <a:ea typeface="Calibri"/>
              </a:rPr>
              <a:t>Project Overview</a:t>
            </a:r>
          </a:p>
        </p:txBody>
      </p:sp>
      <p:sp>
        <p:nvSpPr>
          <p:cNvPr id="100015"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0F62FE"/>
              </a:solidFill>
            </a:endParaRPr>
          </a:p>
        </p:txBody>
      </p:sp>
      <p:sp>
        <p:nvSpPr>
          <p:cNvPr id="100016" name="Desc"/>
          <p:cNvSpPr txBox="1"/>
          <p:nvPr/>
        </p:nvSpPr>
        <p:spPr>
          <a:xfrm xmlns:a="http://schemas.openxmlformats.org/drawingml/2006/main">
            <a:off x="720000" y="1152000"/>
            <a:ext cx="1044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0">
                <a:solidFill>
                  <a:srgbClr val="333333"/>
                </a:solidFill>
                <a:latin typeface="Calibri"/>
                <a:ea typeface="Calibri"/>
              </a:rPr>
              <a:t>NutriBot is a full-stack, web-based Agentic AI application that leverages IBM Granite LLM to generate personalized, evidence-based nutrition plans for users worldwide.</a:t>
            </a:r>
          </a:p>
        </p:txBody>
      </p:sp>
      <p:sp>
        <p:nvSpPr>
          <p:cNvPr id="100017" name="Box1"/>
          <p:cNvSpPr txBox="1"/>
          <p:nvPr/>
        </p:nvSpPr>
        <p:spPr>
          <a:xfrm xmlns:a="http://schemas.openxmlformats.org/drawingml/2006/main">
            <a:off x="720000" y="1980000"/>
            <a:ext cx="3060000" cy="1620000"/>
          </a:xfrm>
          <a:prstGeom xmlns:a="http://schemas.openxmlformats.org/drawingml/2006/main" prst="rect">
            <a:avLst/>
          </a:prstGeom>
          <a:solidFill xmlns:a="http://schemas.openxmlformats.org/drawingml/2006/main">
            <a:srgbClr val="E8F0FE"/>
          </a:solidFill>
        </p:spPr>
        <p:txBody>
          <a:bodyPr xmlns:a="http://schemas.openxmlformats.org/drawingml/2006/main"/>
          <a:lstStyle xmlns:a="http://schemas.openxmlformats.org/drawingml/2006/main"/>
          <a:p xmlns:a="http://schemas.openxmlformats.org/drawingml/2006/main">
            <a:r>
              <a:rPr lang="en-US" sz="1800" b="0">
                <a:solidFill>
                  <a:srgbClr val="0D1B2A"/>
                </a:solidFill>
                <a:latin typeface="Calibri"/>
                <a:ea typeface="Calibri"/>
              </a:rPr>
              <a:t>IBM Granite LLM</a:t>
            </a:r>
          </a:p>
          <a:p xmlns:a="http://schemas.openxmlformats.org/drawingml/2006/main">
            <a:r>
              <a:rPr lang="en-US" sz="1800" b="0">
                <a:solidFill>
                  <a:srgbClr val="0D1B2A"/>
                </a:solidFill>
                <a:latin typeface="Calibri"/>
                <a:ea typeface="Calibri"/>
              </a:rPr>
              <a:t>ibm/granite-13b-instruct-v2</a:t>
            </a:r>
          </a:p>
          <a:p xmlns:a="http://schemas.openxmlformats.org/drawingml/2006/main">
            <a:r>
              <a:rPr lang="en-US" sz="1800" b="0">
                <a:solidFill>
                  <a:srgbClr val="0D1B2A"/>
                </a:solidFill>
                <a:latin typeface="Calibri"/>
                <a:ea typeface="Calibri"/>
              </a:rPr>
              <a:t>via IBM watsonx.ai</a:t>
            </a:r>
          </a:p>
        </p:txBody>
      </p:sp>
      <p:sp>
        <p:nvSpPr>
          <p:cNvPr id="100018" name="Box2"/>
          <p:cNvSpPr txBox="1"/>
          <p:nvPr/>
        </p:nvSpPr>
        <p:spPr>
          <a:xfrm xmlns:a="http://schemas.openxmlformats.org/drawingml/2006/main">
            <a:off x="4320000" y="1980000"/>
            <a:ext cx="3060000" cy="1620000"/>
          </a:xfrm>
          <a:prstGeom xmlns:a="http://schemas.openxmlformats.org/drawingml/2006/main" prst="rect">
            <a:avLst/>
          </a:prstGeom>
          <a:solidFill xmlns:a="http://schemas.openxmlformats.org/drawingml/2006/main">
            <a:srgbClr val="F3E8FF"/>
          </a:solidFill>
        </p:spPr>
        <p:txBody>
          <a:bodyPr xmlns:a="http://schemas.openxmlformats.org/drawingml/2006/main"/>
          <a:lstStyle xmlns:a="http://schemas.openxmlformats.org/drawingml/2006/main"/>
          <a:p xmlns:a="http://schemas.openxmlformats.org/drawingml/2006/main">
            <a:r>
              <a:rPr lang="en-US" sz="1800" b="0">
                <a:solidFill>
                  <a:srgbClr val="0D1B2A"/>
                </a:solidFill>
                <a:latin typeface="Calibri"/>
                <a:ea typeface="Calibri"/>
              </a:rPr>
              <a:t>Multi-Agent Pipeline</a:t>
            </a:r>
          </a:p>
          <a:p xmlns:a="http://schemas.openxmlformats.org/drawingml/2006/main">
            <a:r>
              <a:rPr lang="en-US" sz="1800" b="0">
                <a:solidFill>
                  <a:srgbClr val="0D1B2A"/>
                </a:solidFill>
                <a:latin typeface="Calibri"/>
                <a:ea typeface="Calibri"/>
              </a:rPr>
              <a:t>NutritionAgent + QueryAgent</a:t>
            </a:r>
          </a:p>
          <a:p xmlns:a="http://schemas.openxmlformats.org/drawingml/2006/main">
            <a:r>
              <a:rPr lang="en-US" sz="1800" b="0">
                <a:solidFill>
                  <a:srgbClr val="0D1B2A"/>
                </a:solidFill>
                <a:latin typeface="Calibri"/>
                <a:ea typeface="Calibri"/>
              </a:rPr>
              <a:t>Full agentic SDLC</a:t>
            </a:r>
          </a:p>
        </p:txBody>
      </p:sp>
      <p:sp>
        <p:nvSpPr>
          <p:cNvPr id="100019" name="Box3"/>
          <p:cNvSpPr txBox="1"/>
          <p:nvPr/>
        </p:nvSpPr>
        <p:spPr>
          <a:xfrm xmlns:a="http://schemas.openxmlformats.org/drawingml/2006/main">
            <a:off x="7920000" y="1980000"/>
            <a:ext cx="3060000" cy="1620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800" b="0">
                <a:solidFill>
                  <a:srgbClr val="0D1B2A"/>
                </a:solidFill>
                <a:latin typeface="Calibri"/>
                <a:ea typeface="Calibri"/>
              </a:rPr>
              <a:t>AI Ethics &amp; Safety</a:t>
            </a:r>
          </a:p>
          <a:p xmlns:a="http://schemas.openxmlformats.org/drawingml/2006/main">
            <a:r>
              <a:rPr lang="en-US" sz="1800" b="0">
                <a:solidFill>
                  <a:srgbClr val="0D1B2A"/>
                </a:solidFill>
                <a:latin typeface="Calibri"/>
                <a:ea typeface="Calibri"/>
              </a:rPr>
              <a:t>HAM Framework</a:t>
            </a:r>
          </a:p>
          <a:p xmlns:a="http://schemas.openxmlformats.org/drawingml/2006/main">
            <a:r>
              <a:rPr lang="en-US" sz="1800" b="0">
                <a:solidFill>
                  <a:srgbClr val="0D1B2A"/>
                </a:solidFill>
                <a:latin typeface="Calibri"/>
                <a:ea typeface="Calibri"/>
              </a:rPr>
              <a:t>5-layer guardrails</a:t>
            </a:r>
          </a:p>
        </p:txBody>
      </p:sp>
      <p:sp>
        <p:nvSpPr>
          <p:cNvPr id="100020" name="Box4"/>
          <p:cNvSpPr txBox="1"/>
          <p:nvPr/>
        </p:nvSpPr>
        <p:spPr>
          <a:xfrm xmlns:a="http://schemas.openxmlformats.org/drawingml/2006/main">
            <a:off x="720000" y="3960000"/>
            <a:ext cx="3060000" cy="1440000"/>
          </a:xfrm>
          <a:prstGeom xmlns:a="http://schemas.openxmlformats.org/drawingml/2006/main" prst="rect">
            <a:avLst/>
          </a:prstGeom>
          <a:solidFill xmlns:a="http://schemas.openxmlformats.org/drawingml/2006/main">
            <a:srgbClr val="FEF3C7"/>
          </a:solidFill>
        </p:spPr>
        <p:txBody>
          <a:bodyPr xmlns:a="http://schemas.openxmlformats.org/drawingml/2006/main"/>
          <a:lstStyle xmlns:a="http://schemas.openxmlformats.org/drawingml/2006/main"/>
          <a:p xmlns:a="http://schemas.openxmlformats.org/drawingml/2006/main">
            <a:r>
              <a:rPr lang="en-US" sz="1800" b="0">
                <a:solidFill>
                  <a:srgbClr val="0D1B2A"/>
                </a:solidFill>
                <a:latin typeface="Calibri"/>
                <a:ea typeface="Calibri"/>
              </a:rPr>
              <a:t>Web Application</a:t>
            </a:r>
          </a:p>
          <a:p xmlns:a="http://schemas.openxmlformats.org/drawingml/2006/main">
            <a:r>
              <a:rPr lang="en-US" sz="1800" b="0">
                <a:solidFill>
                  <a:srgbClr val="0D1B2A"/>
                </a:solidFill>
                <a:latin typeface="Calibri"/>
                <a:ea typeface="Calibri"/>
              </a:rPr>
              <a:t>Flask + Vanilla JS</a:t>
            </a:r>
          </a:p>
          <a:p xmlns:a="http://schemas.openxmlformats.org/drawingml/2006/main">
            <a:r>
              <a:rPr lang="en-US" sz="1800" b="0">
                <a:solidFill>
                  <a:srgbClr val="0D1B2A"/>
                </a:solidFill>
                <a:latin typeface="Calibri"/>
                <a:ea typeface="Calibri"/>
              </a:rPr>
              <a:t>Responsive UI</a:t>
            </a:r>
          </a:p>
        </p:txBody>
      </p:sp>
      <p:sp>
        <p:nvSpPr>
          <p:cNvPr id="100021" name="Box5"/>
          <p:cNvSpPr txBox="1"/>
          <p:nvPr/>
        </p:nvSpPr>
        <p:spPr>
          <a:xfrm xmlns:a="http://schemas.openxmlformats.org/drawingml/2006/main">
            <a:off x="4320000" y="3960000"/>
            <a:ext cx="3060000" cy="1440000"/>
          </a:xfrm>
          <a:prstGeom xmlns:a="http://schemas.openxmlformats.org/drawingml/2006/main" prst="rect">
            <a:avLst/>
          </a:prstGeom>
          <a:solidFill xmlns:a="http://schemas.openxmlformats.org/drawingml/2006/main">
            <a:srgbClr val="FCE7F3"/>
          </a:solidFill>
        </p:spPr>
        <p:txBody>
          <a:bodyPr xmlns:a="http://schemas.openxmlformats.org/drawingml/2006/main"/>
          <a:lstStyle xmlns:a="http://schemas.openxmlformats.org/drawingml/2006/main"/>
          <a:p xmlns:a="http://schemas.openxmlformats.org/drawingml/2006/main">
            <a:r>
              <a:rPr lang="en-US" sz="1800" b="0">
                <a:solidFill>
                  <a:srgbClr val="0D1B2A"/>
                </a:solidFill>
                <a:latin typeface="Calibri"/>
                <a:ea typeface="Calibri"/>
              </a:rPr>
              <a:t>Markdown Export</a:t>
            </a:r>
          </a:p>
          <a:p xmlns:a="http://schemas.openxmlformats.org/drawingml/2006/main">
            <a:r>
              <a:rPr lang="en-US" sz="1800" b="0">
                <a:solidFill>
                  <a:srgbClr val="0D1B2A"/>
                </a:solidFill>
                <a:latin typeface="Calibri"/>
                <a:ea typeface="Calibri"/>
              </a:rPr>
              <a:t>YAML front-matter</a:t>
            </a:r>
          </a:p>
          <a:p xmlns:a="http://schemas.openxmlformats.org/drawingml/2006/main">
            <a:r>
              <a:rPr lang="en-US" sz="1800" b="0">
                <a:solidFill>
                  <a:srgbClr val="0D1B2A"/>
                </a:solidFill>
                <a:latin typeface="Calibri"/>
                <a:ea typeface="Calibri"/>
              </a:rPr>
              <a:t>Auto-saved .md files</a:t>
            </a:r>
          </a:p>
        </p:txBody>
      </p:sp>
      <p:sp>
        <p:nvSpPr>
          <p:cNvPr id="100022" name="Box6"/>
          <p:cNvSpPr txBox="1"/>
          <p:nvPr/>
        </p:nvSpPr>
        <p:spPr>
          <a:xfrm xmlns:a="http://schemas.openxmlformats.org/drawingml/2006/main">
            <a:off x="7920000" y="3960000"/>
            <a:ext cx="3060000" cy="1440000"/>
          </a:xfrm>
          <a:prstGeom xmlns:a="http://schemas.openxmlformats.org/drawingml/2006/main" prst="rect">
            <a:avLst/>
          </a:prstGeom>
          <a:solidFill xmlns:a="http://schemas.openxmlformats.org/drawingml/2006/main">
            <a:srgbClr val="E0F2FE"/>
          </a:solidFill>
        </p:spPr>
        <p:txBody>
          <a:bodyPr xmlns:a="http://schemas.openxmlformats.org/drawingml/2006/main"/>
          <a:lstStyle xmlns:a="http://schemas.openxmlformats.org/drawingml/2006/main"/>
          <a:p xmlns:a="http://schemas.openxmlformats.org/drawingml/2006/main">
            <a:r>
              <a:rPr lang="en-US" sz="1800" b="0">
                <a:solidFill>
                  <a:srgbClr val="0D1B2A"/>
                </a:solidFill>
                <a:latin typeface="Calibri"/>
                <a:ea typeface="Calibri"/>
              </a:rPr>
              <a:t>GitHub Deployed</a:t>
            </a:r>
          </a:p>
          <a:p xmlns:a="http://schemas.openxmlformats.org/drawingml/2006/main">
            <a:r>
              <a:rPr lang="en-US" sz="1800" b="0">
                <a:solidFill>
                  <a:srgbClr val="0D1B2A"/>
                </a:solidFill>
                <a:latin typeface="Calibri"/>
                <a:ea typeface="Calibri"/>
              </a:rPr>
              <a:t>github.com/Hiren-Modha</a:t>
            </a:r>
          </a:p>
          <a:p xmlns:a="http://schemas.openxmlformats.org/drawingml/2006/main">
            <a:r>
              <a:rPr lang="en-US" sz="1800" b="0">
                <a:solidFill>
                  <a:srgbClr val="0D1B2A"/>
                </a:solidFill>
                <a:latin typeface="Calibri"/>
                <a:ea typeface="Calibri"/>
              </a:rPr>
              <a:t>/Nutrient-Agent</a:t>
            </a:r>
          </a:p>
        </p:txBody>
      </p:sp>
      <p:sp>
        <p:nvSpPr>
          <p:cNvPr id="100023"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200" b="0">
                <a:solidFill>
                  <a:srgbClr val="A8B8C8"/>
                </a:solidFill>
              </a:rPr>
              <a:t>NutriBot — IBM Granite Nutrition Agentic AI  |  Slide 03</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4"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025"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0D1B2A"/>
                </a:solidFill>
                <a:latin typeface="Calibri"/>
                <a:ea typeface="Calibri"/>
              </a:rPr>
              <a:t>Problem Statement</a:t>
            </a:r>
          </a:p>
        </p:txBody>
      </p:sp>
      <p:sp>
        <p:nvSpPr>
          <p:cNvPr id="100026"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endParaRPr lang="en-US" sz="800">
              <a:solidFill>
                <a:srgbClr val="DA1E28"/>
              </a:solidFill>
            </a:endParaRPr>
          </a:p>
        </p:txBody>
      </p:sp>
      <p:sp>
        <p:nvSpPr>
          <p:cNvPr id="100027" name="Challenge"/>
          <p:cNvSpPr txBox="1"/>
          <p:nvPr/>
        </p:nvSpPr>
        <p:spPr>
          <a:xfrm xmlns:a="http://schemas.openxmlformats.org/drawingml/2006/main">
            <a:off x="720000" y="1152000"/>
            <a:ext cx="504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b="1">
                <a:solidFill>
                  <a:srgbClr val="DA1E28"/>
                </a:solidFill>
                <a:latin typeface="Calibri"/>
                <a:ea typeface="Calibri"/>
              </a:rPr>
              <a:t>The Challenge</a:t>
            </a:r>
          </a:p>
        </p:txBody>
      </p:sp>
      <p:sp>
        <p:nvSpPr>
          <p:cNvPr id="100028" name="ProbList"/>
          <p:cNvSpPr txBox="1"/>
          <p:nvPr/>
        </p:nvSpPr>
        <p:spPr>
          <a:xfrm xmlns:a="http://schemas.openxmlformats.org/drawingml/2006/main">
            <a:off x="720000" y="1656000"/>
            <a:ext cx="5040000" cy="32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0">
                <a:solidFill>
                  <a:srgbClr val="333333"/>
                </a:solidFill>
                <a:latin typeface="Calibri"/>
                <a:ea typeface="Calibri"/>
              </a:rPr>
              <a:t>Millions struggle to access personalised nutrition advice</a:t>
            </a:r>
          </a:p>
          <a:p xmlns:a="http://schemas.openxmlformats.org/drawingml/2006/main">
            <a:r>
              <a:rPr lang="en-US" sz="1800" b="0">
                <a:solidFill>
                  <a:srgbClr val="333333"/>
                </a:solidFill>
                <a:latin typeface="Calibri"/>
                <a:ea typeface="Calibri"/>
              </a:rPr>
              <a:t>Generic meal plans ignore medical conditions (diabetes, hypertension)</a:t>
            </a:r>
          </a:p>
          <a:p xmlns:a="http://schemas.openxmlformats.org/drawingml/2006/main">
            <a:r>
              <a:rPr lang="en-US" sz="1800" b="0">
                <a:solidFill>
                  <a:srgbClr val="333333"/>
                </a:solidFill>
                <a:latin typeface="Calibri"/>
                <a:ea typeface="Calibri"/>
              </a:rPr>
              <a:t>Dietitian consultations are expensive and inaccessible</a:t>
            </a:r>
          </a:p>
          <a:p xmlns:a="http://schemas.openxmlformats.org/drawingml/2006/main">
            <a:r>
              <a:rPr lang="en-US" sz="1800" b="0">
                <a:solidFill>
                  <a:srgbClr val="333333"/>
                </a:solidFill>
                <a:latin typeface="Calibri"/>
                <a:ea typeface="Calibri"/>
              </a:rPr>
              <a:t>Cultural food diversity is rarely addressed in standard apps</a:t>
            </a:r>
          </a:p>
          <a:p xmlns:a="http://schemas.openxmlformats.org/drawingml/2006/main">
            <a:r>
              <a:rPr lang="en-US" sz="1800" b="0">
                <a:solidFill>
                  <a:srgbClr val="333333"/>
                </a:solidFill>
                <a:latin typeface="Calibri"/>
                <a:ea typeface="Calibri"/>
              </a:rPr>
              <a:t>Medical misinformation spreads easily online</a:t>
            </a:r>
          </a:p>
          <a:p xmlns:a="http://schemas.openxmlformats.org/drawingml/2006/main">
            <a:r>
              <a:rPr lang="en-US" sz="1800" b="0">
                <a:solidFill>
                  <a:srgbClr val="333333"/>
                </a:solidFill>
                <a:latin typeface="Calibri"/>
                <a:ea typeface="Calibri"/>
              </a:rPr>
              <a:t>No single tool collects profile + generates + saves plans</a:t>
            </a:r>
          </a:p>
        </p:txBody>
      </p:sp>
      <p:sp>
        <p:nvSpPr>
          <p:cNvPr id="100029" name="Solution"/>
          <p:cNvSpPr txBox="1"/>
          <p:nvPr/>
        </p:nvSpPr>
        <p:spPr>
          <a:xfrm xmlns:a="http://schemas.openxmlformats.org/drawingml/2006/main">
            <a:off x="6480000" y="1152000"/>
            <a:ext cx="468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b="1">
                <a:solidFill>
                  <a:srgbClr val="198038"/>
                </a:solidFill>
                <a:latin typeface="Calibri"/>
                <a:ea typeface="Calibri"/>
              </a:rPr>
              <a:t>The Solution</a:t>
            </a:r>
          </a:p>
        </p:txBody>
      </p:sp>
      <p:sp>
        <p:nvSpPr>
          <p:cNvPr id="100030" name="SolList"/>
          <p:cNvSpPr txBox="1"/>
          <p:nvPr/>
        </p:nvSpPr>
        <p:spPr>
          <a:xfrm xmlns:a="http://schemas.openxmlformats.org/drawingml/2006/main">
            <a:off x="6480000" y="1656000"/>
            <a:ext cx="4680000" cy="32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0">
                <a:solidFill>
                  <a:srgbClr val="333333"/>
                </a:solidFill>
                <a:latin typeface="Calibri"/>
                <a:ea typeface="Calibri"/>
              </a:rPr>
              <a:t>AI-powered personalised plans using IBM Granite LLM</a:t>
            </a:r>
          </a:p>
          <a:p xmlns:a="http://schemas.openxmlformats.org/drawingml/2006/main">
            <a:r>
              <a:rPr lang="en-US" sz="1800" b="0">
                <a:solidFill>
                  <a:srgbClr val="333333"/>
                </a:solidFill>
                <a:latin typeface="Calibri"/>
                <a:ea typeface="Calibri"/>
              </a:rPr>
              <a:t>Medical condition-aware recommendations (diabetes, BP)</a:t>
            </a:r>
          </a:p>
          <a:p xmlns:a="http://schemas.openxmlformats.org/drawingml/2006/main">
            <a:r>
              <a:rPr lang="en-US" sz="1800" b="0">
                <a:solidFill>
                  <a:srgbClr val="333333"/>
                </a:solidFill>
                <a:latin typeface="Calibri"/>
                <a:ea typeface="Calibri"/>
              </a:rPr>
              <a:t>Free, accessible 24/7 via web browser</a:t>
            </a:r>
          </a:p>
          <a:p xmlns:a="http://schemas.openxmlformats.org/drawingml/2006/main">
            <a:r>
              <a:rPr lang="en-US" sz="1800" b="0">
                <a:solidFill>
                  <a:srgbClr val="333333"/>
                </a:solidFill>
                <a:latin typeface="Calibri"/>
                <a:ea typeface="Calibri"/>
              </a:rPr>
              <a:t>Location + culture-aware food suggestions</a:t>
            </a:r>
          </a:p>
          <a:p xmlns:a="http://schemas.openxmlformats.org/drawingml/2006/main">
            <a:r>
              <a:rPr lang="en-US" sz="1800" b="0">
                <a:solidFill>
                  <a:srgbClr val="333333"/>
                </a:solidFill>
                <a:latin typeface="Calibri"/>
                <a:ea typeface="Calibri"/>
              </a:rPr>
              <a:t>Strict AI ethics guardrails prevent harmful advice</a:t>
            </a:r>
          </a:p>
          <a:p xmlns:a="http://schemas.openxmlformats.org/drawingml/2006/main">
            <a:r>
              <a:rPr lang="en-US" sz="1800" b="0">
                <a:solidFill>
                  <a:srgbClr val="333333"/>
                </a:solidFill>
                <a:latin typeface="Calibri"/>
                <a:ea typeface="Calibri"/>
              </a:rPr>
              <a:t>Automatic .md file saving for future reference</a:t>
            </a:r>
          </a:p>
        </p:txBody>
      </p:sp>
      <p:sp>
        <p:nvSpPr>
          <p:cNvPr id="100031"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200" b="0">
                <a:solidFill>
                  <a:srgbClr val="A8B8C8"/>
                </a:solidFill>
              </a:rPr>
              <a:t>NutriBot — IBM Granite Nutrition Agentic AI  |  Slide 04</a:t>
            </a:r>
          </a:p>
        </p:txBody>
      </p:sp>
    </p:spTree>
  </p:cSld>
</p:sld>
</file>

<file path=ppt/slides/slide5.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32"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033"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FFFFFF"/>
                </a:solidFill>
                <a:latin typeface="Calibri"/>
                <a:ea typeface="Calibri"/>
              </a:rPr>
              <a:t>Agentic AI SDLC Phases</a:t>
            </a:r>
          </a:p>
        </p:txBody>
      </p:sp>
      <p:sp>
        <p:nvSpPr>
          <p:cNvPr id="100034"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800">
              <a:solidFill>
                <a:srgbClr val="6929C4"/>
              </a:solidFill>
            </a:endParaRPr>
          </a:p>
        </p:txBody>
      </p:sp>
      <p:sp>
        <p:nvSpPr>
          <p:cNvPr id="100035" name="P1"/>
          <p:cNvSpPr txBox="1"/>
          <p:nvPr/>
        </p:nvSpPr>
        <p:spPr>
          <a:xfrm xmlns:a="http://schemas.openxmlformats.org/drawingml/2006/main">
            <a:off x="180000" y="1260000"/>
            <a:ext cx="1908000" cy="2520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400" b="0">
                <a:solidFill>
                  <a:srgbClr val="FFFFFF"/>
                </a:solidFill>
                <a:latin typeface="Calibri"/>
                <a:ea typeface="Calibri"/>
              </a:rPr>
              <a:t>1. REQUIREMENTS</a:t>
            </a:r>
          </a:p>
          <a:p xmlns:a="http://schemas.openxmlformats.org/drawingml/2006/main">
            <a:r>
              <a:rPr lang="en-US" sz="1400" b="0">
                <a:solidFill>
                  <a:srgbClr val="FFFFFF"/>
                </a:solidFill>
                <a:latin typeface="Calibri"/>
                <a:ea typeface="Calibri"/>
              </a:rPr>
              <a:t>User profile schema</a:t>
            </a:r>
          </a:p>
          <a:p xmlns:a="http://schemas.openxmlformats.org/drawingml/2006/main">
            <a:r>
              <a:rPr lang="en-US" sz="1400" b="0">
                <a:solidFill>
                  <a:srgbClr val="FFFFFF"/>
                </a:solidFill>
                <a:latin typeface="Calibri"/>
                <a:ea typeface="Calibri"/>
              </a:rPr>
              <a:t>Ethics constraints</a:t>
            </a:r>
          </a:p>
          <a:p xmlns:a="http://schemas.openxmlformats.org/drawingml/2006/main">
            <a:r>
              <a:rPr lang="en-US" sz="1400" b="0">
                <a:solidFill>
                  <a:srgbClr val="FFFFFF"/>
                </a:solidFill>
                <a:latin typeface="Calibri"/>
                <a:ea typeface="Calibri"/>
              </a:rPr>
              <a:t>Medical guardrails</a:t>
            </a:r>
          </a:p>
          <a:p xmlns:a="http://schemas.openxmlformats.org/drawingml/2006/main">
            <a:r>
              <a:rPr lang="en-US" sz="1400" b="0">
                <a:solidFill>
                  <a:srgbClr val="FFFFFF"/>
                </a:solidFill>
                <a:latin typeface="Calibri"/>
                <a:ea typeface="Calibri"/>
              </a:rPr>
              <a:t>HAM framework def.</a:t>
            </a:r>
          </a:p>
        </p:txBody>
      </p:sp>
      <p:sp>
        <p:nvSpPr>
          <p:cNvPr id="100036" name="P2"/>
          <p:cNvSpPr txBox="1"/>
          <p:nvPr/>
        </p:nvSpPr>
        <p:spPr>
          <a:xfrm xmlns:a="http://schemas.openxmlformats.org/drawingml/2006/main">
            <a:off x="2268000" y="1260000"/>
            <a:ext cx="1908000" cy="2520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400" b="0">
                <a:solidFill>
                  <a:srgbClr val="FFFFFF"/>
                </a:solidFill>
                <a:latin typeface="Calibri"/>
                <a:ea typeface="Calibri"/>
              </a:rPr>
              <a:t>2. DESIGN</a:t>
            </a:r>
          </a:p>
          <a:p xmlns:a="http://schemas.openxmlformats.org/drawingml/2006/main">
            <a:r>
              <a:rPr lang="en-US" sz="1400" b="0">
                <a:solidFill>
                  <a:srgbClr val="FFFFFF"/>
                </a:solidFill>
                <a:latin typeface="Calibri"/>
                <a:ea typeface="Calibri"/>
              </a:rPr>
              <a:t>Agent architecture</a:t>
            </a:r>
          </a:p>
          <a:p xmlns:a="http://schemas.openxmlformats.org/drawingml/2006/main">
            <a:r>
              <a:rPr lang="en-US" sz="1400" b="0">
                <a:solidFill>
                  <a:srgbClr val="FFFFFF"/>
                </a:solidFill>
                <a:latin typeface="Calibri"/>
                <a:ea typeface="Calibri"/>
              </a:rPr>
              <a:t>Dual-agent pattern</a:t>
            </a:r>
          </a:p>
          <a:p xmlns:a="http://schemas.openxmlformats.org/drawingml/2006/main">
            <a:r>
              <a:rPr lang="en-US" sz="1400" b="0">
                <a:solidFill>
                  <a:srgbClr val="FFFFFF"/>
                </a:solidFill>
                <a:latin typeface="Calibri"/>
                <a:ea typeface="Calibri"/>
              </a:rPr>
              <a:t>Prompt engineering</a:t>
            </a:r>
          </a:p>
          <a:p xmlns:a="http://schemas.openxmlformats.org/drawingml/2006/main">
            <a:r>
              <a:rPr lang="en-US" sz="1400" b="0">
                <a:solidFill>
                  <a:srgbClr val="FFFFFF"/>
                </a:solidFill>
                <a:latin typeface="Calibri"/>
                <a:ea typeface="Calibri"/>
              </a:rPr>
              <a:t>System context</a:t>
            </a:r>
          </a:p>
        </p:txBody>
      </p:sp>
      <p:sp>
        <p:nvSpPr>
          <p:cNvPr id="100037" name="P3"/>
          <p:cNvSpPr txBox="1"/>
          <p:nvPr/>
        </p:nvSpPr>
        <p:spPr>
          <a:xfrm xmlns:a="http://schemas.openxmlformats.org/drawingml/2006/main">
            <a:off x="4356000" y="1260000"/>
            <a:ext cx="1908000" cy="2520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400" b="0">
                <a:solidFill>
                  <a:srgbClr val="FFFFFF"/>
                </a:solidFill>
                <a:latin typeface="Calibri"/>
                <a:ea typeface="Calibri"/>
              </a:rPr>
              <a:t>3. DEVELOPMENT</a:t>
            </a:r>
          </a:p>
          <a:p xmlns:a="http://schemas.openxmlformats.org/drawingml/2006/main">
            <a:r>
              <a:rPr lang="en-US" sz="1400" b="0">
                <a:solidFill>
                  <a:srgbClr val="FFFFFF"/>
                </a:solidFill>
                <a:latin typeface="Calibri"/>
                <a:ea typeface="Calibri"/>
              </a:rPr>
              <a:t>Flask REST API</a:t>
            </a:r>
          </a:p>
          <a:p xmlns:a="http://schemas.openxmlformats.org/drawingml/2006/main">
            <a:r>
              <a:rPr lang="en-US" sz="1400" b="0">
                <a:solidFill>
                  <a:srgbClr val="FFFFFF"/>
                </a:solidFill>
                <a:latin typeface="Calibri"/>
                <a:ea typeface="Calibri"/>
              </a:rPr>
              <a:t>Granite client</a:t>
            </a:r>
          </a:p>
          <a:p xmlns:a="http://schemas.openxmlformats.org/drawingml/2006/main">
            <a:r>
              <a:rPr lang="en-US" sz="1400" b="0">
                <a:solidFill>
                  <a:srgbClr val="FFFFFF"/>
                </a:solidFill>
                <a:latin typeface="Calibri"/>
                <a:ea typeface="Calibri"/>
              </a:rPr>
              <a:t>Frontend UI</a:t>
            </a:r>
          </a:p>
          <a:p xmlns:a="http://schemas.openxmlformats.org/drawingml/2006/main">
            <a:r>
              <a:rPr lang="en-US" sz="1400" b="0">
                <a:solidFill>
                  <a:srgbClr val="FFFFFF"/>
                </a:solidFill>
                <a:latin typeface="Calibri"/>
                <a:ea typeface="Calibri"/>
              </a:rPr>
              <a:t>6 API routes</a:t>
            </a:r>
          </a:p>
        </p:txBody>
      </p:sp>
      <p:sp>
        <p:nvSpPr>
          <p:cNvPr id="100038" name="P4"/>
          <p:cNvSpPr txBox="1"/>
          <p:nvPr/>
        </p:nvSpPr>
        <p:spPr>
          <a:xfrm xmlns:a="http://schemas.openxmlformats.org/drawingml/2006/main">
            <a:off x="6444000" y="1260000"/>
            <a:ext cx="1908000" cy="2520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400" b="0">
                <a:solidFill>
                  <a:srgbClr val="FFFFFF"/>
                </a:solidFill>
                <a:latin typeface="Calibri"/>
                <a:ea typeface="Calibri"/>
              </a:rPr>
              <a:t>4. GUARDRAILS</a:t>
            </a:r>
          </a:p>
          <a:p xmlns:a="http://schemas.openxmlformats.org/drawingml/2006/main">
            <a:r>
              <a:rPr lang="en-US" sz="1400" b="0">
                <a:solidFill>
                  <a:srgbClr val="FFFFFF"/>
                </a:solidFill>
                <a:latin typeface="Calibri"/>
                <a:ea typeface="Calibri"/>
              </a:rPr>
              <a:t>Input validation</a:t>
            </a:r>
          </a:p>
          <a:p xmlns:a="http://schemas.openxmlformats.org/drawingml/2006/main">
            <a:r>
              <a:rPr lang="en-US" sz="1400" b="0">
                <a:solidFill>
                  <a:srgbClr val="FFFFFF"/>
                </a:solidFill>
                <a:latin typeface="Calibri"/>
                <a:ea typeface="Calibri"/>
              </a:rPr>
              <a:t>Harm detection</a:t>
            </a:r>
          </a:p>
          <a:p xmlns:a="http://schemas.openxmlformats.org/drawingml/2006/main">
            <a:r>
              <a:rPr lang="en-US" sz="1400" b="0">
                <a:solidFill>
                  <a:srgbClr val="FFFFFF"/>
                </a:solidFill>
                <a:latin typeface="Calibri"/>
                <a:ea typeface="Calibri"/>
              </a:rPr>
              <a:t>Scope filtering</a:t>
            </a:r>
          </a:p>
          <a:p xmlns:a="http://schemas.openxmlformats.org/drawingml/2006/main">
            <a:r>
              <a:rPr lang="en-US" sz="1400" b="0">
                <a:solidFill>
                  <a:srgbClr val="FFFFFF"/>
                </a:solidFill>
                <a:latin typeface="Calibri"/>
                <a:ea typeface="Calibri"/>
              </a:rPr>
              <a:t>Output sanitise</a:t>
            </a:r>
          </a:p>
        </p:txBody>
      </p:sp>
      <p:sp>
        <p:nvSpPr>
          <p:cNvPr id="100039" name="P5"/>
          <p:cNvSpPr txBox="1"/>
          <p:nvPr/>
        </p:nvSpPr>
        <p:spPr>
          <a:xfrm xmlns:a="http://schemas.openxmlformats.org/drawingml/2006/main">
            <a:off x="8532000" y="1260000"/>
            <a:ext cx="1908000" cy="2520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400" b="0">
                <a:solidFill>
                  <a:srgbClr val="FFFFFF"/>
                </a:solidFill>
                <a:latin typeface="Calibri"/>
                <a:ea typeface="Calibri"/>
              </a:rPr>
              <a:t>5. VALIDATION</a:t>
            </a:r>
          </a:p>
          <a:p xmlns:a="http://schemas.openxmlformats.org/drawingml/2006/main">
            <a:r>
              <a:rPr lang="en-US" sz="1400" b="0">
                <a:solidFill>
                  <a:srgbClr val="FFFFFF"/>
                </a:solidFill>
                <a:latin typeface="Calibri"/>
                <a:ea typeface="Calibri"/>
              </a:rPr>
              <a:t>Field checks</a:t>
            </a:r>
          </a:p>
          <a:p xmlns:a="http://schemas.openxmlformats.org/drawingml/2006/main">
            <a:r>
              <a:rPr lang="en-US" sz="1400" b="0">
                <a:solidFill>
                  <a:srgbClr val="FFFFFF"/>
                </a:solidFill>
                <a:latin typeface="Calibri"/>
                <a:ea typeface="Calibri"/>
              </a:rPr>
              <a:t>Safety screening</a:t>
            </a:r>
          </a:p>
          <a:p xmlns:a="http://schemas.openxmlformats.org/drawingml/2006/main">
            <a:r>
              <a:rPr lang="en-US" sz="1400" b="0">
                <a:solidFill>
                  <a:srgbClr val="FFFFFF"/>
                </a:solidFill>
                <a:latin typeface="Calibri"/>
                <a:ea typeface="Calibri"/>
              </a:rPr>
              <a:t>Response QA</a:t>
            </a:r>
          </a:p>
          <a:p xmlns:a="http://schemas.openxmlformats.org/drawingml/2006/main">
            <a:r>
              <a:rPr lang="en-US" sz="1400" b="0">
                <a:solidFill>
                  <a:srgbClr val="FFFFFF"/>
                </a:solidFill>
                <a:latin typeface="Calibri"/>
                <a:ea typeface="Calibri"/>
              </a:rPr>
              <a:t>Disclaimer add</a:t>
            </a:r>
          </a:p>
        </p:txBody>
      </p:sp>
      <p:sp>
        <p:nvSpPr>
          <p:cNvPr id="100040" name="P6"/>
          <p:cNvSpPr txBox="1"/>
          <p:nvPr/>
        </p:nvSpPr>
        <p:spPr>
          <a:xfrm xmlns:a="http://schemas.openxmlformats.org/drawingml/2006/main">
            <a:off x="10620000" y="1260000"/>
            <a:ext cx="1440000" cy="2520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400" b="0">
                <a:solidFill>
                  <a:srgbClr val="FFFFFF"/>
                </a:solidFill>
                <a:latin typeface="Calibri"/>
                <a:ea typeface="Calibri"/>
              </a:rPr>
              <a:t>6. OUTPUT &amp; FEEDBACK</a:t>
            </a:r>
          </a:p>
          <a:p xmlns:a="http://schemas.openxmlformats.org/drawingml/2006/main">
            <a:r>
              <a:rPr lang="en-US" sz="1400" b="0">
                <a:solidFill>
                  <a:srgbClr val="FFFFFF"/>
                </a:solidFill>
                <a:latin typeface="Calibri"/>
                <a:ea typeface="Calibri"/>
              </a:rPr>
              <a:t>.md file saved</a:t>
            </a:r>
          </a:p>
          <a:p xmlns:a="http://schemas.openxmlformats.org/drawingml/2006/main">
            <a:r>
              <a:rPr lang="en-US" sz="1400" b="0">
                <a:solidFill>
                  <a:srgbClr val="FFFFFF"/>
                </a:solidFill>
                <a:latin typeface="Calibri"/>
                <a:ea typeface="Calibri"/>
              </a:rPr>
              <a:t>JSON API response</a:t>
            </a:r>
          </a:p>
          <a:p xmlns:a="http://schemas.openxmlformats.org/drawingml/2006/main">
            <a:r>
              <a:rPr lang="en-US" sz="1400" b="0">
                <a:solidFill>
                  <a:srgbClr val="FFFFFF"/>
                </a:solidFill>
                <a:latin typeface="Calibri"/>
                <a:ea typeface="Calibri"/>
              </a:rPr>
              <a:t>Plans history</a:t>
            </a:r>
          </a:p>
          <a:p xmlns:a="http://schemas.openxmlformats.org/drawingml/2006/main">
            <a:r>
              <a:rPr lang="en-US" sz="1400" b="0">
                <a:solidFill>
                  <a:srgbClr val="FFFFFF"/>
                </a:solidFill>
                <a:latin typeface="Calibri"/>
                <a:ea typeface="Calibri"/>
              </a:rPr>
              <a:t>User review</a:t>
            </a:r>
          </a:p>
        </p:txBody>
      </p:sp>
      <p:sp>
        <p:nvSpPr>
          <p:cNvPr id="100041" name="FlowArrow"/>
          <p:cNvSpPr txBox="1"/>
          <p:nvPr/>
        </p:nvSpPr>
        <p:spPr>
          <a:xfrm xmlns:a="http://schemas.openxmlformats.org/drawingml/2006/main">
            <a:off x="720000" y="4032000"/>
            <a:ext cx="1044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1">
                <a:solidFill>
                  <a:srgbClr val="82CFFF"/>
                </a:solidFill>
                <a:latin typeface="Calibri"/>
                <a:ea typeface="Calibri"/>
              </a:rPr>
              <a:t>Requirements  --&gt;  Design  --&gt;  Development  --&gt;  Guardrails  --&gt;  Validation  --&gt;  Output  --&gt;  Feedback</a:t>
            </a:r>
          </a:p>
        </p:txBody>
      </p:sp>
      <p:sp>
        <p:nvSpPr>
          <p:cNvPr id="100042" name="SubNote"/>
          <p:cNvSpPr txBox="1"/>
          <p:nvPr/>
        </p:nvSpPr>
        <p:spPr>
          <a:xfrm xmlns:a="http://schemas.openxmlformats.org/drawingml/2006/main">
            <a:off x="720000" y="4680000"/>
            <a:ext cx="1044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0">
                <a:solidFill>
                  <a:srgbClr val="A8B8C8"/>
                </a:solidFill>
                <a:latin typeface="Calibri"/>
                <a:ea typeface="Calibri"/>
              </a:rPr>
              <a:t>Every phase is implemented in code — not just documented. The agent autonomously orchestrates all 6 phases on each request.</a:t>
            </a:r>
          </a:p>
        </p:txBody>
      </p:sp>
      <p:sp>
        <p:nvSpPr>
          <p:cNvPr id="100043"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b="0">
                <a:solidFill>
                  <a:srgbClr val="FFFFFF"/>
                </a:solidFill>
              </a:rPr>
              <a:t>NutriBot — IBM Granite Nutrition Agentic AI  |  Slide 05</a:t>
            </a:r>
          </a:p>
        </p:txBody>
      </p:sp>
    </p:spTree>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4"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045"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0D1B2A"/>
                </a:solidFill>
                <a:latin typeface="Calibri"/>
                <a:ea typeface="Calibri"/>
              </a:rPr>
              <a:t>System Architecture</a:t>
            </a:r>
          </a:p>
        </p:txBody>
      </p:sp>
      <p:sp>
        <p:nvSpPr>
          <p:cNvPr id="100046"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0F62FE"/>
              </a:solidFill>
            </a:endParaRPr>
          </a:p>
        </p:txBody>
      </p:sp>
      <p:sp>
        <p:nvSpPr>
          <p:cNvPr id="100047" name="Layer1"/>
          <p:cNvSpPr txBox="1"/>
          <p:nvPr/>
        </p:nvSpPr>
        <p:spPr>
          <a:xfrm xmlns:a="http://schemas.openxmlformats.org/drawingml/2006/main">
            <a:off x="720000" y="1188000"/>
            <a:ext cx="10440000" cy="540000"/>
          </a:xfrm>
          <a:prstGeom xmlns:a="http://schemas.openxmlformats.org/drawingml/2006/main" prst="rect">
            <a:avLst/>
          </a:prstGeom>
          <a:solidFill xmlns:a="http://schemas.openxmlformats.org/drawingml/2006/main">
            <a:srgbClr val="E8F0FE"/>
          </a:solidFill>
        </p:spPr>
        <p:txBody>
          <a:bodyPr xmlns:a="http://schemas.openxmlformats.org/drawingml/2006/main"/>
          <a:lstStyle xmlns:a="http://schemas.openxmlformats.org/drawingml/2006/main"/>
          <a:p xmlns:a="http://schemas.openxmlformats.org/drawingml/2006/main">
            <a:r>
              <a:rPr lang="en-US" sz="1600" b="1">
                <a:solidFill>
                  <a:srgbClr val="0F62FE"/>
                </a:solidFill>
                <a:latin typeface="Calibri"/>
                <a:ea typeface="Calibri"/>
              </a:rPr>
              <a:t>FRONTEND  —  HTML + CSS + Vanilla JS  |  3-Step Profile Wizard  |  Chat Q&amp;A  |  Plans History</a:t>
            </a:r>
          </a:p>
        </p:txBody>
      </p:sp>
      <p:sp>
        <p:nvSpPr>
          <p:cNvPr id="100048" name="Arrow1"/>
          <p:cNvSpPr txBox="1"/>
          <p:nvPr/>
        </p:nvSpPr>
        <p:spPr>
          <a:xfrm xmlns:a="http://schemas.openxmlformats.org/drawingml/2006/main">
            <a:off x="4680000" y="1800000"/>
            <a:ext cx="288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0">
                <a:solidFill>
                  <a:srgbClr val="6929C4"/>
                </a:solidFill>
                <a:latin typeface="Calibri"/>
                <a:ea typeface="Calibri"/>
              </a:rPr>
              <a:t>HTTP REST API  (JSON)</a:t>
            </a:r>
          </a:p>
        </p:txBody>
      </p:sp>
      <p:sp>
        <p:nvSpPr>
          <p:cNvPr id="100049" name="Layer2"/>
          <p:cNvSpPr txBox="1"/>
          <p:nvPr/>
        </p:nvSpPr>
        <p:spPr>
          <a:xfrm xmlns:a="http://schemas.openxmlformats.org/drawingml/2006/main">
            <a:off x="720000" y="2124000"/>
            <a:ext cx="10440000" cy="540000"/>
          </a:xfrm>
          <a:prstGeom xmlns:a="http://schemas.openxmlformats.org/drawingml/2006/main" prst="rect">
            <a:avLst/>
          </a:prstGeom>
          <a:solidFill xmlns:a="http://schemas.openxmlformats.org/drawingml/2006/main">
            <a:srgbClr val="F3E8FF"/>
          </a:solidFill>
        </p:spPr>
        <p:txBody>
          <a:bodyPr xmlns:a="http://schemas.openxmlformats.org/drawingml/2006/main"/>
          <a:lstStyle xmlns:a="http://schemas.openxmlformats.org/drawingml/2006/main"/>
          <a:p xmlns:a="http://schemas.openxmlformats.org/drawingml/2006/main">
            <a:r>
              <a:rPr lang="en-US" sz="1600" b="1">
                <a:solidFill>
                  <a:srgbClr val="6929C4"/>
                </a:solidFill>
                <a:latin typeface="Calibri"/>
                <a:ea typeface="Calibri"/>
              </a:rPr>
              <a:t>FLASK BACKEND  —  app.py  |  6 REST routes  |  /api/generate-plan  /api/query  /api/plans  /api/health</a:t>
            </a:r>
          </a:p>
        </p:txBody>
      </p:sp>
      <p:sp>
        <p:nvSpPr>
          <p:cNvPr id="100050" name="Arrow2"/>
          <p:cNvSpPr txBox="1"/>
          <p:nvPr/>
        </p:nvSpPr>
        <p:spPr>
          <a:xfrm xmlns:a="http://schemas.openxmlformats.org/drawingml/2006/main">
            <a:off x="4680000" y="2736000"/>
            <a:ext cx="288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0">
                <a:solidFill>
                  <a:srgbClr val="198038"/>
                </a:solidFill>
                <a:latin typeface="Calibri"/>
                <a:ea typeface="Calibri"/>
              </a:rPr>
              <a:t>Agent calls</a:t>
            </a:r>
          </a:p>
        </p:txBody>
      </p:sp>
      <p:sp>
        <p:nvSpPr>
          <p:cNvPr id="100051" name="AgentBox1"/>
          <p:cNvSpPr txBox="1"/>
          <p:nvPr/>
        </p:nvSpPr>
        <p:spPr>
          <a:xfrm xmlns:a="http://schemas.openxmlformats.org/drawingml/2006/main">
            <a:off x="720000" y="3060000"/>
            <a:ext cx="4680000" cy="1260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600" b="0">
                <a:solidFill>
                  <a:srgbClr val="065F46"/>
                </a:solidFill>
                <a:latin typeface="Calibri"/>
                <a:ea typeface="Calibri"/>
              </a:rPr>
              <a:t>NutritionAgent</a:t>
            </a:r>
          </a:p>
          <a:p xmlns:a="http://schemas.openxmlformats.org/drawingml/2006/main">
            <a:r>
              <a:rPr lang="en-US" sz="1600" b="0">
                <a:solidFill>
                  <a:srgbClr val="065F46"/>
                </a:solidFill>
                <a:latin typeface="Calibri"/>
                <a:ea typeface="Calibri"/>
              </a:rPr>
              <a:t>nutrition_agent.py</a:t>
            </a:r>
          </a:p>
          <a:p xmlns:a="http://schemas.openxmlformats.org/drawingml/2006/main">
            <a:r>
              <a:rPr lang="en-US" sz="1600" b="0">
                <a:solidFill>
                  <a:srgbClr val="065F46"/>
                </a:solidFill>
                <a:latin typeface="Calibri"/>
                <a:ea typeface="Calibri"/>
              </a:rPr>
              <a:t>8-phase pipeline</a:t>
            </a:r>
          </a:p>
        </p:txBody>
      </p:sp>
      <p:sp>
        <p:nvSpPr>
          <p:cNvPr id="100052" name="AgentBox2"/>
          <p:cNvSpPr txBox="1"/>
          <p:nvPr/>
        </p:nvSpPr>
        <p:spPr>
          <a:xfrm xmlns:a="http://schemas.openxmlformats.org/drawingml/2006/main">
            <a:off x="6120000" y="3060000"/>
            <a:ext cx="4680000" cy="1260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600" b="0">
                <a:solidFill>
                  <a:srgbClr val="065F46"/>
                </a:solidFill>
                <a:latin typeface="Calibri"/>
                <a:ea typeface="Calibri"/>
              </a:rPr>
              <a:t>QueryAgent</a:t>
            </a:r>
          </a:p>
          <a:p xmlns:a="http://schemas.openxmlformats.org/drawingml/2006/main">
            <a:r>
              <a:rPr lang="en-US" sz="1600" b="0">
                <a:solidFill>
                  <a:srgbClr val="065F46"/>
                </a:solidFill>
                <a:latin typeface="Calibri"/>
                <a:ea typeface="Calibri"/>
              </a:rPr>
              <a:t>query_agent.py</a:t>
            </a:r>
          </a:p>
          <a:p xmlns:a="http://schemas.openxmlformats.org/drawingml/2006/main">
            <a:r>
              <a:rPr lang="en-US" sz="1600" b="0">
                <a:solidFill>
                  <a:srgbClr val="065F46"/>
                </a:solidFill>
                <a:latin typeface="Calibri"/>
                <a:ea typeface="Calibri"/>
              </a:rPr>
              <a:t>Real-time Q&amp;A</a:t>
            </a:r>
          </a:p>
        </p:txBody>
      </p:sp>
      <p:sp>
        <p:nvSpPr>
          <p:cNvPr id="100053" name="Arrow3"/>
          <p:cNvSpPr txBox="1"/>
          <p:nvPr/>
        </p:nvSpPr>
        <p:spPr>
          <a:xfrm xmlns:a="http://schemas.openxmlformats.org/drawingml/2006/main">
            <a:off x="4680000" y="4392000"/>
            <a:ext cx="288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0">
                <a:solidFill>
                  <a:srgbClr val="DA1E28"/>
                </a:solidFill>
                <a:latin typeface="Calibri"/>
                <a:ea typeface="Calibri"/>
              </a:rPr>
              <a:t>call_granite()</a:t>
            </a:r>
          </a:p>
        </p:txBody>
      </p:sp>
      <p:sp>
        <p:nvSpPr>
          <p:cNvPr id="100054" name="Utils"/>
          <p:cNvSpPr txBox="1"/>
          <p:nvPr/>
        </p:nvSpPr>
        <p:spPr>
          <a:xfrm xmlns:a="http://schemas.openxmlformats.org/drawingml/2006/main">
            <a:off x="720000" y="4752000"/>
            <a:ext cx="10440000" cy="540000"/>
          </a:xfrm>
          <a:prstGeom xmlns:a="http://schemas.openxmlformats.org/drawingml/2006/main" prst="rect">
            <a:avLst/>
          </a:prstGeom>
          <a:solidFill xmlns:a="http://schemas.openxmlformats.org/drawingml/2006/main">
            <a:srgbClr val="FEF3C7"/>
          </a:solidFill>
        </p:spPr>
        <p:txBody>
          <a:bodyPr xmlns:a="http://schemas.openxmlformats.org/drawingml/2006/main"/>
          <a:lstStyle xmlns:a="http://schemas.openxmlformats.org/drawingml/2006/main"/>
          <a:p xmlns:a="http://schemas.openxmlformats.org/drawingml/2006/main">
            <a:r>
              <a:rPr lang="en-US" sz="1500" b="1">
                <a:solidFill>
                  <a:srgbClr val="92400E"/>
                </a:solidFill>
                <a:latin typeface="Calibri"/>
                <a:ea typeface="Calibri"/>
              </a:rPr>
              <a:t>UTILS  —  granite_client.py  (IBM Granite API + fallback)  |  guardrails.py  (HAM + safety)  |  plan_saver.py  (.md)</a:t>
            </a:r>
          </a:p>
        </p:txBody>
      </p:sp>
      <p:sp>
        <p:nvSpPr>
          <p:cNvPr id="100055" name="Arrow4"/>
          <p:cNvSpPr txBox="1"/>
          <p:nvPr/>
        </p:nvSpPr>
        <p:spPr>
          <a:xfrm xmlns:a="http://schemas.openxmlformats.org/drawingml/2006/main">
            <a:off x="4680000" y="5364000"/>
            <a:ext cx="288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0">
                <a:solidFill>
                  <a:srgbClr val="0F62FE"/>
                </a:solidFill>
                <a:latin typeface="Calibri"/>
                <a:ea typeface="Calibri"/>
              </a:rPr>
              <a:t>watsonx.ai REST API</a:t>
            </a:r>
          </a:p>
        </p:txBody>
      </p:sp>
      <p:sp>
        <p:nvSpPr>
          <p:cNvPr id="100056" name="IBM"/>
          <p:cNvSpPr txBox="1"/>
          <p:nvPr/>
        </p:nvSpPr>
        <p:spPr>
          <a:xfrm xmlns:a="http://schemas.openxmlformats.org/drawingml/2006/main">
            <a:off x="720000" y="5688000"/>
            <a:ext cx="10440000" cy="540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r>
              <a:rPr lang="en-US" sz="1600" b="1">
                <a:solidFill>
                  <a:srgbClr val="82CFFF"/>
                </a:solidFill>
                <a:latin typeface="Calibri"/>
                <a:ea typeface="Calibri"/>
              </a:rPr>
              <a:t>IBM watsonx.ai  —  ibm/granite-13b-instruct-v2  |  IAM Token Auth  |  us-south endpoint</a:t>
            </a:r>
          </a:p>
        </p:txBody>
      </p:sp>
      <p:sp>
        <p:nvSpPr>
          <p:cNvPr id="100057"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200" b="0">
                <a:solidFill>
                  <a:srgbClr val="A8B8C8"/>
                </a:solidFill>
              </a:rPr>
              <a:t>NutriBot — IBM Granite Nutrition Agentic AI  |  Slide 06</a:t>
            </a:r>
          </a:p>
        </p:txBody>
      </p:sp>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58"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059"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0D1B2A"/>
                </a:solidFill>
                <a:latin typeface="Calibri"/>
                <a:ea typeface="Calibri"/>
              </a:rPr>
              <a:t>IBM Granite Integration</a:t>
            </a:r>
          </a:p>
        </p:txBody>
      </p:sp>
      <p:sp>
        <p:nvSpPr>
          <p:cNvPr id="100060"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800">
              <a:solidFill>
                <a:srgbClr val="6929C4"/>
              </a:solidFill>
            </a:endParaRPr>
          </a:p>
        </p:txBody>
      </p:sp>
      <p:sp>
        <p:nvSpPr>
          <p:cNvPr id="100061" name="ModelBadge"/>
          <p:cNvSpPr txBox="1"/>
          <p:nvPr/>
        </p:nvSpPr>
        <p:spPr>
          <a:xfrm xmlns:a="http://schemas.openxmlformats.org/drawingml/2006/main">
            <a:off x="720000" y="1152000"/>
            <a:ext cx="5040000" cy="432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r>
              <a:rPr lang="en-US" sz="2200" b="1">
                <a:solidFill>
                  <a:srgbClr val="FFFFFF"/>
                </a:solidFill>
                <a:latin typeface="Calibri"/>
                <a:ea typeface="Calibri"/>
              </a:rPr>
              <a:t>ibm/granite-13b-instruct-v2</a:t>
            </a:r>
          </a:p>
        </p:txBody>
      </p:sp>
      <p:sp>
        <p:nvSpPr>
          <p:cNvPr id="100062" name="EndpointBadge"/>
          <p:cNvSpPr txBox="1"/>
          <p:nvPr/>
        </p:nvSpPr>
        <p:spPr>
          <a:xfrm xmlns:a="http://schemas.openxmlformats.org/drawingml/2006/main">
            <a:off x="6120000" y="1152000"/>
            <a:ext cx="5040000" cy="43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600" b="0">
                <a:solidFill>
                  <a:srgbClr val="FFFFFF"/>
                </a:solidFill>
                <a:latin typeface="Calibri"/>
                <a:ea typeface="Calibri"/>
              </a:rPr>
              <a:t>us-south.ml.cloud.ibm.com/ml/v1/text/generation</a:t>
            </a:r>
          </a:p>
        </p:txBody>
      </p:sp>
      <p:sp>
        <p:nvSpPr>
          <p:cNvPr id="100063" name="FlowTitle"/>
          <p:cNvSpPr txBox="1"/>
          <p:nvPr/>
        </p:nvSpPr>
        <p:spPr>
          <a:xfrm xmlns:a="http://schemas.openxmlformats.org/drawingml/2006/main">
            <a:off x="720000" y="1800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1">
                <a:solidFill>
                  <a:srgbClr val="1C2B4A"/>
                </a:solidFill>
                <a:latin typeface="Calibri"/>
                <a:ea typeface="Calibri"/>
              </a:rPr>
              <a:t>API Call Flow</a:t>
            </a:r>
          </a:p>
        </p:txBody>
      </p:sp>
      <p:sp>
        <p:nvSpPr>
          <p:cNvPr id="100064" name="Step1"/>
          <p:cNvSpPr txBox="1"/>
          <p:nvPr/>
        </p:nvSpPr>
        <p:spPr>
          <a:xfrm xmlns:a="http://schemas.openxmlformats.org/drawingml/2006/main">
            <a:off x="180000" y="2268000"/>
            <a:ext cx="2160000" cy="1260000"/>
          </a:xfrm>
          <a:prstGeom xmlns:a="http://schemas.openxmlformats.org/drawingml/2006/main" prst="rect">
            <a:avLst/>
          </a:prstGeom>
          <a:solidFill xmlns:a="http://schemas.openxmlformats.org/drawingml/2006/main">
            <a:srgbClr val="EDE9FE"/>
          </a:solidFill>
        </p:spPr>
        <p:txBody>
          <a:bodyPr xmlns:a="http://schemas.openxmlformats.org/drawingml/2006/main"/>
          <a:lstStyle xmlns:a="http://schemas.openxmlformats.org/drawingml/2006/main"/>
          <a:p xmlns:a="http://schemas.openxmlformats.org/drawingml/2006/main">
            <a:r>
              <a:rPr lang="en-US" sz="1500" b="0">
                <a:solidFill>
                  <a:srgbClr val="1C2B4A"/>
                </a:solidFill>
                <a:latin typeface="Calibri"/>
                <a:ea typeface="Calibri"/>
              </a:rPr>
              <a:t>1  Get IBM Cloud API Key</a:t>
            </a:r>
          </a:p>
          <a:p xmlns:a="http://schemas.openxmlformats.org/drawingml/2006/main">
            <a:r>
              <a:rPr lang="en-US" sz="1500" b="0">
                <a:solidFill>
                  <a:srgbClr val="1C2B4A"/>
                </a:solidFill>
                <a:latin typeface="Calibri"/>
                <a:ea typeface="Calibri"/>
              </a:rPr>
              <a:t>from .env / env var</a:t>
            </a:r>
          </a:p>
        </p:txBody>
      </p:sp>
      <p:sp>
        <p:nvSpPr>
          <p:cNvPr id="100065" name="Step2"/>
          <p:cNvSpPr txBox="1"/>
          <p:nvPr/>
        </p:nvSpPr>
        <p:spPr>
          <a:xfrm xmlns:a="http://schemas.openxmlformats.org/drawingml/2006/main">
            <a:off x="2700000" y="2268000"/>
            <a:ext cx="2160000" cy="1260000"/>
          </a:xfrm>
          <a:prstGeom xmlns:a="http://schemas.openxmlformats.org/drawingml/2006/main" prst="rect">
            <a:avLst/>
          </a:prstGeom>
          <a:solidFill xmlns:a="http://schemas.openxmlformats.org/drawingml/2006/main">
            <a:srgbClr val="EDE9FE"/>
          </a:solidFill>
        </p:spPr>
        <p:txBody>
          <a:bodyPr xmlns:a="http://schemas.openxmlformats.org/drawingml/2006/main"/>
          <a:lstStyle xmlns:a="http://schemas.openxmlformats.org/drawingml/2006/main"/>
          <a:p xmlns:a="http://schemas.openxmlformats.org/drawingml/2006/main">
            <a:r>
              <a:rPr lang="en-US" sz="1500" b="0">
                <a:solidFill>
                  <a:srgbClr val="1C2B4A"/>
                </a:solidFill>
                <a:latin typeface="Calibri"/>
                <a:ea typeface="Calibri"/>
              </a:rPr>
              <a:t>2  Exchange for IAM</a:t>
            </a:r>
          </a:p>
          <a:p xmlns:a="http://schemas.openxmlformats.org/drawingml/2006/main">
            <a:r>
              <a:rPr lang="en-US" sz="1500" b="0">
                <a:solidFill>
                  <a:srgbClr val="1C2B4A"/>
                </a:solidFill>
                <a:latin typeface="Calibri"/>
                <a:ea typeface="Calibri"/>
              </a:rPr>
              <a:t>Bearer Token</a:t>
            </a:r>
          </a:p>
          <a:p xmlns:a="http://schemas.openxmlformats.org/drawingml/2006/main">
            <a:r>
              <a:rPr lang="en-US" sz="1500" b="0">
                <a:solidFill>
                  <a:srgbClr val="1C2B4A"/>
                </a:solidFill>
                <a:latin typeface="Calibri"/>
                <a:ea typeface="Calibri"/>
              </a:rPr>
              <a:t>iam.cloud.ibm.com</a:t>
            </a:r>
          </a:p>
        </p:txBody>
      </p:sp>
      <p:sp>
        <p:nvSpPr>
          <p:cNvPr id="100066" name="Step3"/>
          <p:cNvSpPr txBox="1"/>
          <p:nvPr/>
        </p:nvSpPr>
        <p:spPr>
          <a:xfrm xmlns:a="http://schemas.openxmlformats.org/drawingml/2006/main">
            <a:off x="5220000" y="2268000"/>
            <a:ext cx="2160000" cy="1260000"/>
          </a:xfrm>
          <a:prstGeom xmlns:a="http://schemas.openxmlformats.org/drawingml/2006/main" prst="rect">
            <a:avLst/>
          </a:prstGeom>
          <a:solidFill xmlns:a="http://schemas.openxmlformats.org/drawingml/2006/main">
            <a:srgbClr val="EDE9FE"/>
          </a:solidFill>
        </p:spPr>
        <p:txBody>
          <a:bodyPr xmlns:a="http://schemas.openxmlformats.org/drawingml/2006/main"/>
          <a:lstStyle xmlns:a="http://schemas.openxmlformats.org/drawingml/2006/main"/>
          <a:p xmlns:a="http://schemas.openxmlformats.org/drawingml/2006/main">
            <a:r>
              <a:rPr lang="en-US" sz="1500" b="0">
                <a:solidFill>
                  <a:srgbClr val="1C2B4A"/>
                </a:solidFill>
                <a:latin typeface="Calibri"/>
                <a:ea typeface="Calibri"/>
              </a:rPr>
              <a:t>3  POST prompt to</a:t>
            </a:r>
          </a:p>
          <a:p xmlns:a="http://schemas.openxmlformats.org/drawingml/2006/main">
            <a:r>
              <a:rPr lang="en-US" sz="1500" b="0">
                <a:solidFill>
                  <a:srgbClr val="1C2B4A"/>
                </a:solidFill>
                <a:latin typeface="Calibri"/>
                <a:ea typeface="Calibri"/>
              </a:rPr>
              <a:t>watsonx.ai endpoint</a:t>
            </a:r>
          </a:p>
          <a:p xmlns:a="http://schemas.openxmlformats.org/drawingml/2006/main">
            <a:r>
              <a:rPr lang="en-US" sz="1500" b="0">
                <a:solidFill>
                  <a:srgbClr val="1C2B4A"/>
                </a:solidFill>
                <a:latin typeface="Calibri"/>
                <a:ea typeface="Calibri"/>
              </a:rPr>
              <a:t>with project_id</a:t>
            </a:r>
          </a:p>
        </p:txBody>
      </p:sp>
      <p:sp>
        <p:nvSpPr>
          <p:cNvPr id="100067" name="Step4"/>
          <p:cNvSpPr txBox="1"/>
          <p:nvPr/>
        </p:nvSpPr>
        <p:spPr>
          <a:xfrm xmlns:a="http://schemas.openxmlformats.org/drawingml/2006/main">
            <a:off x="7740000" y="2268000"/>
            <a:ext cx="2160000" cy="1260000"/>
          </a:xfrm>
          <a:prstGeom xmlns:a="http://schemas.openxmlformats.org/drawingml/2006/main" prst="rect">
            <a:avLst/>
          </a:prstGeom>
          <a:solidFill xmlns:a="http://schemas.openxmlformats.org/drawingml/2006/main">
            <a:srgbClr val="EDE9FE"/>
          </a:solidFill>
        </p:spPr>
        <p:txBody>
          <a:bodyPr xmlns:a="http://schemas.openxmlformats.org/drawingml/2006/main"/>
          <a:lstStyle xmlns:a="http://schemas.openxmlformats.org/drawingml/2006/main"/>
          <a:p xmlns:a="http://schemas.openxmlformats.org/drawingml/2006/main">
            <a:r>
              <a:rPr lang="en-US" sz="1500" b="0">
                <a:solidFill>
                  <a:srgbClr val="1C2B4A"/>
                </a:solidFill>
                <a:latin typeface="Calibri"/>
                <a:ea typeface="Calibri"/>
              </a:rPr>
              <a:t>4  Receive generated</a:t>
            </a:r>
          </a:p>
          <a:p xmlns:a="http://schemas.openxmlformats.org/drawingml/2006/main">
            <a:r>
              <a:rPr lang="en-US" sz="1500" b="0">
                <a:solidFill>
                  <a:srgbClr val="1C2B4A"/>
                </a:solidFill>
                <a:latin typeface="Calibri"/>
                <a:ea typeface="Calibri"/>
              </a:rPr>
              <a:t>text response</a:t>
            </a:r>
          </a:p>
          <a:p xmlns:a="http://schemas.openxmlformats.org/drawingml/2006/main">
            <a:r>
              <a:rPr lang="en-US" sz="1500" b="0">
                <a:solidFill>
                  <a:srgbClr val="1C2B4A"/>
                </a:solidFill>
                <a:latin typeface="Calibri"/>
                <a:ea typeface="Calibri"/>
              </a:rPr>
              <a:t>from Granite</a:t>
            </a:r>
          </a:p>
        </p:txBody>
      </p:sp>
      <p:sp>
        <p:nvSpPr>
          <p:cNvPr id="100068" name="Step5"/>
          <p:cNvSpPr txBox="1"/>
          <p:nvPr/>
        </p:nvSpPr>
        <p:spPr>
          <a:xfrm xmlns:a="http://schemas.openxmlformats.org/drawingml/2006/main">
            <a:off x="10260000" y="2268000"/>
            <a:ext cx="1800000" cy="1260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400" b="0">
                <a:solidFill>
                  <a:srgbClr val="065F46"/>
                </a:solidFill>
                <a:latin typeface="Calibri"/>
                <a:ea typeface="Calibri"/>
              </a:rPr>
              <a:t>5  Sanitize + add</a:t>
            </a:r>
          </a:p>
          <a:p xmlns:a="http://schemas.openxmlformats.org/drawingml/2006/main">
            <a:r>
              <a:rPr lang="en-US" sz="1400" b="0">
                <a:solidFill>
                  <a:srgbClr val="065F46"/>
                </a:solidFill>
                <a:latin typeface="Calibri"/>
                <a:ea typeface="Calibri"/>
              </a:rPr>
              <a:t>medical disclaimer</a:t>
            </a:r>
          </a:p>
          <a:p xmlns:a="http://schemas.openxmlformats.org/drawingml/2006/main">
            <a:r>
              <a:rPr lang="en-US" sz="1400" b="0">
                <a:solidFill>
                  <a:srgbClr val="065F46"/>
                </a:solidFill>
                <a:latin typeface="Calibri"/>
                <a:ea typeface="Calibri"/>
              </a:rPr>
              <a:t>Return to user</a:t>
            </a:r>
          </a:p>
        </p:txBody>
      </p:sp>
      <p:sp>
        <p:nvSpPr>
          <p:cNvPr id="100069" name="Params"/>
          <p:cNvSpPr txBox="1"/>
          <p:nvPr/>
        </p:nvSpPr>
        <p:spPr>
          <a:xfrm xmlns:a="http://schemas.openxmlformats.org/drawingml/2006/main">
            <a:off x="720000" y="3780000"/>
            <a:ext cx="4680000" cy="1800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800" b="0">
                <a:solidFill>
                  <a:srgbClr val="333333"/>
                </a:solidFill>
                <a:latin typeface="Calibri"/>
                <a:ea typeface="Calibri"/>
              </a:rPr>
              <a:t>Generation Parameters</a:t>
            </a:r>
          </a:p>
          <a:p xmlns:a="http://schemas.openxmlformats.org/drawingml/2006/main">
            <a:r>
              <a:rPr lang="en-US" sz="1800" b="0">
                <a:solidFill>
                  <a:srgbClr val="333333"/>
                </a:solidFill>
                <a:latin typeface="Calibri"/>
                <a:ea typeface="Calibri"/>
              </a:rPr>
              <a:t>decoding_method: sample</a:t>
            </a:r>
          </a:p>
          <a:p xmlns:a="http://schemas.openxmlformats.org/drawingml/2006/main">
            <a:r>
              <a:rPr lang="en-US" sz="1800" b="0">
                <a:solidFill>
                  <a:srgbClr val="333333"/>
                </a:solidFill>
                <a:latin typeface="Calibri"/>
                <a:ea typeface="Calibri"/>
              </a:rPr>
              <a:t>max_new_tokens: 1400</a:t>
            </a:r>
          </a:p>
          <a:p xmlns:a="http://schemas.openxmlformats.org/drawingml/2006/main">
            <a:r>
              <a:rPr lang="en-US" sz="1800" b="0">
                <a:solidFill>
                  <a:srgbClr val="333333"/>
                </a:solidFill>
                <a:latin typeface="Calibri"/>
                <a:ea typeface="Calibri"/>
              </a:rPr>
              <a:t>temperature: 0.7</a:t>
            </a:r>
          </a:p>
          <a:p xmlns:a="http://schemas.openxmlformats.org/drawingml/2006/main">
            <a:r>
              <a:rPr lang="en-US" sz="1800" b="0">
                <a:solidFill>
                  <a:srgbClr val="333333"/>
                </a:solidFill>
                <a:latin typeface="Calibri"/>
                <a:ea typeface="Calibri"/>
              </a:rPr>
              <a:t>top_p: 0.9</a:t>
            </a:r>
          </a:p>
          <a:p xmlns:a="http://schemas.openxmlformats.org/drawingml/2006/main">
            <a:r>
              <a:rPr lang="en-US" sz="1800" b="0">
                <a:solidFill>
                  <a:srgbClr val="333333"/>
                </a:solidFill>
                <a:latin typeface="Calibri"/>
                <a:ea typeface="Calibri"/>
              </a:rPr>
              <a:t>repetition_penalty: 1.1</a:t>
            </a:r>
          </a:p>
        </p:txBody>
      </p:sp>
      <p:sp>
        <p:nvSpPr>
          <p:cNvPr id="100070" name="Fallback"/>
          <p:cNvSpPr txBox="1"/>
          <p:nvPr/>
        </p:nvSpPr>
        <p:spPr>
          <a:xfrm xmlns:a="http://schemas.openxmlformats.org/drawingml/2006/main">
            <a:off x="6120000" y="3780000"/>
            <a:ext cx="4680000" cy="1800000"/>
          </a:xfrm>
          <a:prstGeom xmlns:a="http://schemas.openxmlformats.org/drawingml/2006/main" prst="rect">
            <a:avLst/>
          </a:prstGeom>
          <a:solidFill xmlns:a="http://schemas.openxmlformats.org/drawingml/2006/main">
            <a:srgbClr val="FEF3C7"/>
          </a:solidFill>
        </p:spPr>
        <p:txBody>
          <a:bodyPr xmlns:a="http://schemas.openxmlformats.org/drawingml/2006/main"/>
          <a:lstStyle xmlns:a="http://schemas.openxmlformats.org/drawingml/2006/main"/>
          <a:p xmlns:a="http://schemas.openxmlformats.org/drawingml/2006/main">
            <a:r>
              <a:rPr lang="en-US" sz="1800" b="0">
                <a:solidFill>
                  <a:srgbClr val="92400E"/>
                </a:solidFill>
                <a:latin typeface="Calibri"/>
                <a:ea typeface="Calibri"/>
              </a:rPr>
              <a:t>Intelligent Fallback Mode</a:t>
            </a:r>
          </a:p>
          <a:p xmlns:a="http://schemas.openxmlformats.org/drawingml/2006/main">
            <a:r>
              <a:rPr lang="en-US" sz="1800" b="0">
                <a:solidFill>
                  <a:srgbClr val="92400E"/>
                </a:solidFill>
                <a:latin typeface="Calibri"/>
                <a:ea typeface="Calibri"/>
              </a:rPr>
              <a:t>When API key is not configured:</a:t>
            </a:r>
          </a:p>
          <a:p xmlns:a="http://schemas.openxmlformats.org/drawingml/2006/main">
            <a:r>
              <a:rPr lang="en-US" sz="1800" b="0">
                <a:solidFill>
                  <a:srgbClr val="92400E"/>
                </a:solidFill>
                <a:latin typeface="Calibri"/>
                <a:ea typeface="Calibri"/>
              </a:rPr>
              <a:t>Rule-based engine generates</a:t>
            </a:r>
          </a:p>
          <a:p xmlns:a="http://schemas.openxmlformats.org/drawingml/2006/main">
            <a:r>
              <a:rPr lang="en-US" sz="1800" b="0">
                <a:solidFill>
                  <a:srgbClr val="92400E"/>
                </a:solidFill>
                <a:latin typeface="Calibri"/>
                <a:ea typeface="Calibri"/>
              </a:rPr>
              <a:t>clinically accurate nutrition plans</a:t>
            </a:r>
          </a:p>
          <a:p xmlns:a="http://schemas.openxmlformats.org/drawingml/2006/main">
            <a:r>
              <a:rPr lang="en-US" sz="1800" b="0">
                <a:solidFill>
                  <a:srgbClr val="92400E"/>
                </a:solidFill>
                <a:latin typeface="Calibri"/>
                <a:ea typeface="Calibri"/>
              </a:rPr>
              <a:t>All features remain functional</a:t>
            </a:r>
          </a:p>
          <a:p xmlns:a="http://schemas.openxmlformats.org/drawingml/2006/main">
            <a:r>
              <a:rPr lang="en-US" sz="1800" b="0">
                <a:solidFill>
                  <a:srgbClr val="92400E"/>
                </a:solidFill>
                <a:latin typeface="Calibri"/>
                <a:ea typeface="Calibri"/>
              </a:rPr>
              <a:t>Perfect for demo &amp; development</a:t>
            </a:r>
          </a:p>
        </p:txBody>
      </p:sp>
      <p:sp>
        <p:nvSpPr>
          <p:cNvPr id="100071"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200" b="0">
                <a:solidFill>
                  <a:srgbClr val="A8B8C8"/>
                </a:solidFill>
              </a:rPr>
              <a:t>NutriBot — IBM Granite Nutrition Agentic AI  |  Slide 07</a:t>
            </a:r>
          </a:p>
        </p:txBody>
      </p:sp>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2"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073"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0D1B2A"/>
                </a:solidFill>
                <a:latin typeface="Calibri"/>
                <a:ea typeface="Calibri"/>
              </a:rPr>
              <a:t>Features &amp; AI Ethics Guardrails</a:t>
            </a:r>
          </a:p>
        </p:txBody>
      </p:sp>
      <p:sp>
        <p:nvSpPr>
          <p:cNvPr id="100074"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0F62FE"/>
              </a:solidFill>
            </a:endParaRPr>
          </a:p>
        </p:txBody>
      </p:sp>
      <p:sp>
        <p:nvSpPr>
          <p:cNvPr id="100075" name="HAMTitle"/>
          <p:cNvSpPr txBox="1"/>
          <p:nvPr/>
        </p:nvSpPr>
        <p:spPr>
          <a:xfrm xmlns:a="http://schemas.openxmlformats.org/drawingml/2006/main">
            <a:off x="720000" y="1188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b="1">
                <a:solidFill>
                  <a:srgbClr val="0F62FE"/>
                </a:solidFill>
                <a:latin typeface="Calibri"/>
                <a:ea typeface="Calibri"/>
              </a:rPr>
              <a:t>HAM Framework</a:t>
            </a:r>
          </a:p>
        </p:txBody>
      </p:sp>
      <p:sp>
        <p:nvSpPr>
          <p:cNvPr id="100076" name="H"/>
          <p:cNvSpPr txBox="1"/>
          <p:nvPr/>
        </p:nvSpPr>
        <p:spPr>
          <a:xfrm xmlns:a="http://schemas.openxmlformats.org/drawingml/2006/main">
            <a:off x="720000" y="1620000"/>
            <a:ext cx="4860000" cy="1008000"/>
          </a:xfrm>
          <a:prstGeom xmlns:a="http://schemas.openxmlformats.org/drawingml/2006/main" prst="rect">
            <a:avLst/>
          </a:prstGeom>
          <a:solidFill xmlns:a="http://schemas.openxmlformats.org/drawingml/2006/main">
            <a:srgbClr val="E8F0FE"/>
          </a:solidFill>
        </p:spPr>
        <p:txBody>
          <a:bodyPr xmlns:a="http://schemas.openxmlformats.org/drawingml/2006/main"/>
          <a:lstStyle xmlns:a="http://schemas.openxmlformats.org/drawingml/2006/main"/>
          <a:p xmlns:a="http://schemas.openxmlformats.org/drawingml/2006/main">
            <a:r>
              <a:rPr lang="en-US" sz="1600" b="0">
                <a:solidFill>
                  <a:srgbClr val="0D1B2A"/>
                </a:solidFill>
                <a:latin typeface="Calibri"/>
                <a:ea typeface="Calibri"/>
              </a:rPr>
              <a:t>H — HELPFUL</a:t>
            </a:r>
          </a:p>
          <a:p xmlns:a="http://schemas.openxmlformats.org/drawingml/2006/main">
            <a:r>
              <a:rPr lang="en-US" sz="1600" b="0">
                <a:solidFill>
                  <a:srgbClr val="0D1B2A"/>
                </a:solidFill>
                <a:latin typeface="Calibri"/>
                <a:ea typeface="Calibri"/>
              </a:rPr>
              <a:t>Practical, actionable, culturally-aware meal recommendations tailored to location and preferences.</a:t>
            </a:r>
          </a:p>
        </p:txBody>
      </p:sp>
      <p:sp>
        <p:nvSpPr>
          <p:cNvPr id="100077" name="A"/>
          <p:cNvSpPr txBox="1"/>
          <p:nvPr/>
        </p:nvSpPr>
        <p:spPr>
          <a:xfrm xmlns:a="http://schemas.openxmlformats.org/drawingml/2006/main">
            <a:off x="720000" y="2700000"/>
            <a:ext cx="4860000" cy="1008000"/>
          </a:xfrm>
          <a:prstGeom xmlns:a="http://schemas.openxmlformats.org/drawingml/2006/main" prst="rect">
            <a:avLst/>
          </a:prstGeom>
          <a:solidFill xmlns:a="http://schemas.openxmlformats.org/drawingml/2006/main">
            <a:srgbClr val="E8F0FE"/>
          </a:solidFill>
        </p:spPr>
        <p:txBody>
          <a:bodyPr xmlns:a="http://schemas.openxmlformats.org/drawingml/2006/main"/>
          <a:lstStyle xmlns:a="http://schemas.openxmlformats.org/drawingml/2006/main"/>
          <a:p xmlns:a="http://schemas.openxmlformats.org/drawingml/2006/main">
            <a:r>
              <a:rPr lang="en-US" sz="1600" b="0">
                <a:solidFill>
                  <a:srgbClr val="0D1B2A"/>
                </a:solidFill>
                <a:latin typeface="Calibri"/>
                <a:ea typeface="Calibri"/>
              </a:rPr>
              <a:t>A — ACCURATE</a:t>
            </a:r>
          </a:p>
          <a:p xmlns:a="http://schemas.openxmlformats.org/drawingml/2006/main">
            <a:r>
              <a:rPr lang="en-US" sz="1600" b="0">
                <a:solidFill>
                  <a:srgbClr val="0D1B2A"/>
                </a:solidFill>
                <a:latin typeface="Calibri"/>
                <a:ea typeface="Calibri"/>
              </a:rPr>
              <a:t>Evidence-based nutritional science. No pseudoscience, no miracle claims, no false cures.</a:t>
            </a:r>
          </a:p>
        </p:txBody>
      </p:sp>
      <p:sp>
        <p:nvSpPr>
          <p:cNvPr id="100078" name="M"/>
          <p:cNvSpPr txBox="1"/>
          <p:nvPr/>
        </p:nvSpPr>
        <p:spPr>
          <a:xfrm xmlns:a="http://schemas.openxmlformats.org/drawingml/2006/main">
            <a:off x="720000" y="3780000"/>
            <a:ext cx="4860000" cy="1008000"/>
          </a:xfrm>
          <a:prstGeom xmlns:a="http://schemas.openxmlformats.org/drawingml/2006/main" prst="rect">
            <a:avLst/>
          </a:prstGeom>
          <a:solidFill xmlns:a="http://schemas.openxmlformats.org/drawingml/2006/main">
            <a:srgbClr val="E8F0FE"/>
          </a:solidFill>
        </p:spPr>
        <p:txBody>
          <a:bodyPr xmlns:a="http://schemas.openxmlformats.org/drawingml/2006/main"/>
          <a:lstStyle xmlns:a="http://schemas.openxmlformats.org/drawingml/2006/main"/>
          <a:p xmlns:a="http://schemas.openxmlformats.org/drawingml/2006/main">
            <a:r>
              <a:rPr lang="en-US" sz="1600" b="0">
                <a:solidFill>
                  <a:srgbClr val="0D1B2A"/>
                </a:solidFill>
                <a:latin typeface="Calibri"/>
                <a:ea typeface="Calibri"/>
              </a:rPr>
              <a:t>M — MINDFUL</a:t>
            </a:r>
          </a:p>
          <a:p xmlns:a="http://schemas.openxmlformats.org/drawingml/2006/main">
            <a:r>
              <a:rPr lang="en-US" sz="1600" b="0">
                <a:solidFill>
                  <a:srgbClr val="0D1B2A"/>
                </a:solidFill>
                <a:latin typeface="Calibri"/>
                <a:ea typeface="Calibri"/>
              </a:rPr>
              <a:t>Empathy for medical conditions. Always recommends professional consultation. Culturally sensitive.</a:t>
            </a:r>
          </a:p>
        </p:txBody>
      </p:sp>
      <p:sp>
        <p:nvSpPr>
          <p:cNvPr id="100079" name="GuardTitle"/>
          <p:cNvSpPr txBox="1"/>
          <p:nvPr/>
        </p:nvSpPr>
        <p:spPr>
          <a:xfrm xmlns:a="http://schemas.openxmlformats.org/drawingml/2006/main">
            <a:off x="6120000" y="1188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b="1">
                <a:solidFill>
                  <a:srgbClr val="DA1E28"/>
                </a:solidFill>
                <a:latin typeface="Calibri"/>
                <a:ea typeface="Calibri"/>
              </a:rPr>
              <a:t>5-Layer Safety Pipeline</a:t>
            </a:r>
          </a:p>
        </p:txBody>
      </p:sp>
      <p:sp>
        <p:nvSpPr>
          <p:cNvPr id="100080" name="G1"/>
          <p:cNvSpPr txBox="1"/>
          <p:nvPr/>
        </p:nvSpPr>
        <p:spPr>
          <a:xfrm xmlns:a="http://schemas.openxmlformats.org/drawingml/2006/main">
            <a:off x="6120000" y="1620000"/>
            <a:ext cx="4860000" cy="648000"/>
          </a:xfrm>
          <a:prstGeom xmlns:a="http://schemas.openxmlformats.org/drawingml/2006/main" prst="rect">
            <a:avLst/>
          </a:prstGeom>
          <a:solidFill xmlns:a="http://schemas.openxmlformats.org/drawingml/2006/main">
            <a:srgbClr val="FEE2E2"/>
          </a:solidFill>
        </p:spPr>
        <p:txBody>
          <a:bodyPr xmlns:a="http://schemas.openxmlformats.org/drawingml/2006/main"/>
          <a:lstStyle xmlns:a="http://schemas.openxmlformats.org/drawingml/2006/main"/>
          <a:p xmlns:a="http://schemas.openxmlformats.org/drawingml/2006/main">
            <a:r>
              <a:rPr lang="en-US" sz="1500" b="0">
                <a:solidFill>
                  <a:srgbClr val="7F1D1D"/>
                </a:solidFill>
                <a:latin typeface="Calibri"/>
                <a:ea typeface="Calibri"/>
              </a:rPr>
              <a:t>Layer 1  Input Validation</a:t>
            </a:r>
          </a:p>
          <a:p xmlns:a="http://schemas.openxmlformats.org/drawingml/2006/main">
            <a:r>
              <a:rPr lang="en-US" sz="1500" b="0">
                <a:solidFill>
                  <a:srgbClr val="7F1D1D"/>
                </a:solidFill>
                <a:latin typeface="Calibri"/>
                <a:ea typeface="Calibri"/>
              </a:rPr>
              <a:t>Age range, required fields, diet type</a:t>
            </a:r>
          </a:p>
        </p:txBody>
      </p:sp>
      <p:sp>
        <p:nvSpPr>
          <p:cNvPr id="100081" name="G2"/>
          <p:cNvSpPr txBox="1"/>
          <p:nvPr/>
        </p:nvSpPr>
        <p:spPr>
          <a:xfrm xmlns:a="http://schemas.openxmlformats.org/drawingml/2006/main">
            <a:off x="6120000" y="2340000"/>
            <a:ext cx="4860000" cy="648000"/>
          </a:xfrm>
          <a:prstGeom xmlns:a="http://schemas.openxmlformats.org/drawingml/2006/main" prst="rect">
            <a:avLst/>
          </a:prstGeom>
          <a:solidFill xmlns:a="http://schemas.openxmlformats.org/drawingml/2006/main">
            <a:srgbClr val="FEE2E2"/>
          </a:solidFill>
        </p:spPr>
        <p:txBody>
          <a:bodyPr xmlns:a="http://schemas.openxmlformats.org/drawingml/2006/main"/>
          <a:lstStyle xmlns:a="http://schemas.openxmlformats.org/drawingml/2006/main"/>
          <a:p xmlns:a="http://schemas.openxmlformats.org/drawingml/2006/main">
            <a:r>
              <a:rPr lang="en-US" sz="1500" b="0">
                <a:solidFill>
                  <a:srgbClr val="7F1D1D"/>
                </a:solidFill>
                <a:latin typeface="Calibri"/>
                <a:ea typeface="Calibri"/>
              </a:rPr>
              <a:t>Layer 2  Harmful Pattern Block</a:t>
            </a:r>
          </a:p>
          <a:p xmlns:a="http://schemas.openxmlformats.org/drawingml/2006/main">
            <a:r>
              <a:rPr lang="en-US" sz="1500" b="0">
                <a:solidFill>
                  <a:srgbClr val="7F1D1D"/>
                </a:solidFill>
                <a:latin typeface="Calibri"/>
                <a:ea typeface="Calibri"/>
              </a:rPr>
              <a:t>"Stop medication", false cure claims, crash diets</a:t>
            </a:r>
          </a:p>
        </p:txBody>
      </p:sp>
      <p:sp>
        <p:nvSpPr>
          <p:cNvPr id="100082" name="G3"/>
          <p:cNvSpPr txBox="1"/>
          <p:nvPr/>
        </p:nvSpPr>
        <p:spPr>
          <a:xfrm xmlns:a="http://schemas.openxmlformats.org/drawingml/2006/main">
            <a:off x="6120000" y="3060000"/>
            <a:ext cx="4860000" cy="648000"/>
          </a:xfrm>
          <a:prstGeom xmlns:a="http://schemas.openxmlformats.org/drawingml/2006/main" prst="rect">
            <a:avLst/>
          </a:prstGeom>
          <a:solidFill xmlns:a="http://schemas.openxmlformats.org/drawingml/2006/main">
            <a:srgbClr val="FEE2E2"/>
          </a:solidFill>
        </p:spPr>
        <p:txBody>
          <a:bodyPr xmlns:a="http://schemas.openxmlformats.org/drawingml/2006/main"/>
          <a:lstStyle xmlns:a="http://schemas.openxmlformats.org/drawingml/2006/main"/>
          <a:p xmlns:a="http://schemas.openxmlformats.org/drawingml/2006/main">
            <a:r>
              <a:rPr lang="en-US" sz="1500" b="0">
                <a:solidFill>
                  <a:srgbClr val="7F1D1D"/>
                </a:solidFill>
                <a:latin typeface="Calibri"/>
                <a:ea typeface="Calibri"/>
              </a:rPr>
              <a:t>Layer 3  Out-of-scope Filter</a:t>
            </a:r>
          </a:p>
          <a:p xmlns:a="http://schemas.openxmlformats.org/drawingml/2006/main">
            <a:r>
              <a:rPr lang="en-US" sz="1500" b="0">
                <a:solidFill>
                  <a:srgbClr val="7F1D1D"/>
                </a:solidFill>
                <a:latin typeface="Calibri"/>
                <a:ea typeface="Calibri"/>
              </a:rPr>
              <a:t>Politics, violence, non-nutrition topics blocked</a:t>
            </a:r>
          </a:p>
        </p:txBody>
      </p:sp>
      <p:sp>
        <p:nvSpPr>
          <p:cNvPr id="100083" name="G4"/>
          <p:cNvSpPr txBox="1"/>
          <p:nvPr/>
        </p:nvSpPr>
        <p:spPr>
          <a:xfrm xmlns:a="http://schemas.openxmlformats.org/drawingml/2006/main">
            <a:off x="6120000" y="3780000"/>
            <a:ext cx="4860000" cy="648000"/>
          </a:xfrm>
          <a:prstGeom xmlns:a="http://schemas.openxmlformats.org/drawingml/2006/main" prst="rect">
            <a:avLst/>
          </a:prstGeom>
          <a:solidFill xmlns:a="http://schemas.openxmlformats.org/drawingml/2006/main">
            <a:srgbClr val="FEE2E2"/>
          </a:solidFill>
        </p:spPr>
        <p:txBody>
          <a:bodyPr xmlns:a="http://schemas.openxmlformats.org/drawingml/2006/main"/>
          <a:lstStyle xmlns:a="http://schemas.openxmlformats.org/drawingml/2006/main"/>
          <a:p xmlns:a="http://schemas.openxmlformats.org/drawingml/2006/main">
            <a:r>
              <a:rPr lang="en-US" sz="1500" b="0">
                <a:solidFill>
                  <a:srgbClr val="7F1D1D"/>
                </a:solidFill>
                <a:latin typeface="Calibri"/>
                <a:ea typeface="Calibri"/>
              </a:rPr>
              <a:t>Layer 4  Output Sanitization</a:t>
            </a:r>
          </a:p>
          <a:p xmlns:a="http://schemas.openxmlformats.org/drawingml/2006/main">
            <a:r>
              <a:rPr lang="en-US" sz="1500" b="0">
                <a:solidFill>
                  <a:srgbClr val="7F1D1D"/>
                </a:solidFill>
                <a:latin typeface="Calibri"/>
                <a:ea typeface="Calibri"/>
              </a:rPr>
              <a:t>Sentence-level post-generation safety check</a:t>
            </a:r>
          </a:p>
        </p:txBody>
      </p:sp>
      <p:sp>
        <p:nvSpPr>
          <p:cNvPr id="100084" name="G5"/>
          <p:cNvSpPr txBox="1"/>
          <p:nvPr/>
        </p:nvSpPr>
        <p:spPr>
          <a:xfrm xmlns:a="http://schemas.openxmlformats.org/drawingml/2006/main">
            <a:off x="6120000" y="4500000"/>
            <a:ext cx="4860000" cy="648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500" b="0">
                <a:solidFill>
                  <a:srgbClr val="065F46"/>
                </a:solidFill>
                <a:latin typeface="Calibri"/>
                <a:ea typeface="Calibri"/>
              </a:rPr>
              <a:t>Layer 5  Medical Disclaimer</a:t>
            </a:r>
          </a:p>
          <a:p xmlns:a="http://schemas.openxmlformats.org/drawingml/2006/main">
            <a:r>
              <a:rPr lang="en-US" sz="1500" b="0">
                <a:solidFill>
                  <a:srgbClr val="065F46"/>
                </a:solidFill>
                <a:latin typeface="Calibri"/>
                <a:ea typeface="Calibri"/>
              </a:rPr>
              <a:t>Mandatory disclaimer appended to every plan</a:t>
            </a:r>
          </a:p>
        </p:txBody>
      </p:sp>
      <p:sp>
        <p:nvSpPr>
          <p:cNvPr id="100085"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200" b="0">
                <a:solidFill>
                  <a:srgbClr val="A8B8C8"/>
                </a:solidFill>
              </a:rPr>
              <a:t>NutriBot — IBM Granite Nutrition Agentic AI  |  Slide 08</a:t>
            </a:r>
          </a:p>
        </p:txBody>
      </p:sp>
    </p:spTree>
  </p:cSld>
</p:sld>
</file>

<file path=ppt/slides/slide9.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86"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087"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FFFFFF"/>
                </a:solidFill>
                <a:latin typeface="Calibri"/>
                <a:ea typeface="Calibri"/>
              </a:rPr>
              <a:t>Web Application — User Interface</a:t>
            </a:r>
          </a:p>
        </p:txBody>
      </p:sp>
      <p:sp>
        <p:nvSpPr>
          <p:cNvPr id="100088"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82CFFF"/>
          </a:solidFill>
        </p:spPr>
        <p:txBody>
          <a:bodyPr xmlns:a="http://schemas.openxmlformats.org/drawingml/2006/main"/>
          <a:lstStyle xmlns:a="http://schemas.openxmlformats.org/drawingml/2006/main"/>
          <a:p xmlns:a="http://schemas.openxmlformats.org/drawingml/2006/main">
            <a:endParaRPr lang="en-US" sz="800">
              <a:solidFill>
                <a:srgbClr val="82CFFF"/>
              </a:solidFill>
            </a:endParaRPr>
          </a:p>
        </p:txBody>
      </p:sp>
      <p:sp>
        <p:nvSpPr>
          <p:cNvPr id="100089" name="Header"/>
          <p:cNvSpPr txBox="1"/>
          <p:nvPr/>
        </p:nvSpPr>
        <p:spPr>
          <a:xfrm xmlns:a="http://schemas.openxmlformats.org/drawingml/2006/main">
            <a:off x="720000" y="1260000"/>
            <a:ext cx="10440000" cy="504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500" b="0">
                <a:solidFill>
                  <a:srgbClr val="82CFFF"/>
                </a:solidFill>
                <a:latin typeface="Calibri"/>
                <a:ea typeface="Calibri"/>
              </a:rPr>
              <a:t>HEADER  NutriBot  |  IBM Granite logo  |  Navigation: Generate Plan / Ask NutriBot / Saved Plans / About</a:t>
            </a:r>
          </a:p>
        </p:txBody>
      </p:sp>
      <p:sp>
        <p:nvSpPr>
          <p:cNvPr id="100090" name="Badge"/>
          <p:cNvSpPr txBox="1"/>
          <p:nvPr/>
        </p:nvSpPr>
        <p:spPr>
          <a:xfrm xmlns:a="http://schemas.openxmlformats.org/drawingml/2006/main">
            <a:off x="2880000" y="1872000"/>
            <a:ext cx="6480000" cy="324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400" b="0">
                <a:solidFill>
                  <a:srgbClr val="6929C4"/>
                </a:solidFill>
                <a:latin typeface="Calibri"/>
                <a:ea typeface="Calibri"/>
              </a:rPr>
              <a:t>Agentic AI — IBM Granite LLM Active  [green pulse dot]</a:t>
            </a:r>
          </a:p>
        </p:txBody>
      </p:sp>
      <p:sp>
        <p:nvSpPr>
          <p:cNvPr id="100091" name="Tab1"/>
          <p:cNvSpPr txBox="1"/>
          <p:nvPr/>
        </p:nvSpPr>
        <p:spPr>
          <a:xfrm xmlns:a="http://schemas.openxmlformats.org/drawingml/2006/main">
            <a:off x="720000" y="2340000"/>
            <a:ext cx="3060000" cy="2700000"/>
          </a:xfrm>
          <a:prstGeom xmlns:a="http://schemas.openxmlformats.org/drawingml/2006/main" prst="rect">
            <a:avLst/>
          </a:prstGeom>
          <a:solidFill xmlns:a="http://schemas.openxmlformats.org/drawingml/2006/main">
            <a:srgbClr val="0F3057"/>
          </a:solidFill>
        </p:spPr>
        <p:txBody>
          <a:bodyPr xmlns:a="http://schemas.openxmlformats.org/drawingml/2006/main"/>
          <a:lstStyle xmlns:a="http://schemas.openxmlformats.org/drawingml/2006/main"/>
          <a:p xmlns:a="http://schemas.openxmlformats.org/drawingml/2006/main">
            <a:r>
              <a:rPr lang="en-US" sz="1500" b="0">
                <a:solidFill>
                  <a:srgbClr val="FFFFFF"/>
                </a:solidFill>
                <a:latin typeface="Calibri"/>
                <a:ea typeface="Calibri"/>
              </a:rPr>
              <a:t>Tab 1: Generate Plan</a:t>
            </a:r>
          </a:p>
          <a:p xmlns:a="http://schemas.openxmlformats.org/drawingml/2006/main">
            <a:r>
              <a:rPr lang="en-US" sz="1500" b="0">
                <a:solidFill>
                  <a:srgbClr val="FFFFFF"/>
                </a:solidFill>
                <a:latin typeface="Calibri"/>
                <a:ea typeface="Calibri"/>
              </a:rPr>
              <a:t>3-step wizard:</a:t>
            </a:r>
          </a:p>
          <a:p xmlns:a="http://schemas.openxmlformats.org/drawingml/2006/main">
            <a:r>
              <a:rPr lang="en-US" sz="1500" b="0">
                <a:solidFill>
                  <a:srgbClr val="FFFFFF"/>
                </a:solidFill>
                <a:latin typeface="Calibri"/>
                <a:ea typeface="Calibri"/>
              </a:rPr>
              <a:t>Step 1 — Basic Profile</a:t>
            </a:r>
          </a:p>
          <a:p xmlns:a="http://schemas.openxmlformats.org/drawingml/2006/main">
            <a:r>
              <a:rPr lang="en-US" sz="1500" b="0">
                <a:solidFill>
                  <a:srgbClr val="FFFFFF"/>
                </a:solidFill>
                <a:latin typeface="Calibri"/>
                <a:ea typeface="Calibri"/>
              </a:rPr>
              <a:t>Step 2 — Diet &amp; Health</a:t>
            </a:r>
          </a:p>
          <a:p xmlns:a="http://schemas.openxmlformats.org/drawingml/2006/main">
            <a:r>
              <a:rPr lang="en-US" sz="1500" b="0">
                <a:solidFill>
                  <a:srgbClr val="FFFFFF"/>
                </a:solidFill>
                <a:latin typeface="Calibri"/>
                <a:ea typeface="Calibri"/>
              </a:rPr>
              <a:t>Step 3 — Goals</a:t>
            </a:r>
          </a:p>
          <a:p xmlns:a="http://schemas.openxmlformats.org/drawingml/2006/main">
            <a:r>
              <a:rPr lang="en-US" sz="1500" b="0">
                <a:solidFill>
                  <a:srgbClr val="FFFFFF"/>
                </a:solidFill>
                <a:latin typeface="Calibri"/>
                <a:ea typeface="Calibri"/>
              </a:rPr>
              <a:t>Step 4 — Results display</a:t>
            </a:r>
          </a:p>
          <a:p xmlns:a="http://schemas.openxmlformats.org/drawingml/2006/main">
            <a:r>
              <a:rPr lang="en-US" sz="1500" b="0">
                <a:solidFill>
                  <a:srgbClr val="FFFFFF"/>
                </a:solidFill>
                <a:latin typeface="Calibri"/>
                <a:ea typeface="Calibri"/>
              </a:rPr>
              <a:t>Copy / Download / New Plan</a:t>
            </a:r>
          </a:p>
        </p:txBody>
      </p:sp>
      <p:sp>
        <p:nvSpPr>
          <p:cNvPr id="100092" name="Tab2"/>
          <p:cNvSpPr txBox="1"/>
          <p:nvPr/>
        </p:nvSpPr>
        <p:spPr>
          <a:xfrm xmlns:a="http://schemas.openxmlformats.org/drawingml/2006/main">
            <a:off x="4320000" y="2340000"/>
            <a:ext cx="3060000" cy="2700000"/>
          </a:xfrm>
          <a:prstGeom xmlns:a="http://schemas.openxmlformats.org/drawingml/2006/main" prst="rect">
            <a:avLst/>
          </a:prstGeom>
          <a:solidFill xmlns:a="http://schemas.openxmlformats.org/drawingml/2006/main">
            <a:srgbClr val="0F3057"/>
          </a:solidFill>
        </p:spPr>
        <p:txBody>
          <a:bodyPr xmlns:a="http://schemas.openxmlformats.org/drawingml/2006/main"/>
          <a:lstStyle xmlns:a="http://schemas.openxmlformats.org/drawingml/2006/main"/>
          <a:p xmlns:a="http://schemas.openxmlformats.org/drawingml/2006/main">
            <a:r>
              <a:rPr lang="en-US" sz="1500" b="0">
                <a:solidFill>
                  <a:srgbClr val="FFFFFF"/>
                </a:solidFill>
                <a:latin typeface="Calibri"/>
                <a:ea typeface="Calibri"/>
              </a:rPr>
              <a:t>Tab 2: Ask NutriBot</a:t>
            </a:r>
          </a:p>
          <a:p xmlns:a="http://schemas.openxmlformats.org/drawingml/2006/main">
            <a:r>
              <a:rPr lang="en-US" sz="1500" b="0">
                <a:solidFill>
                  <a:srgbClr val="FFFFFF"/>
                </a:solidFill>
                <a:latin typeface="Calibri"/>
                <a:ea typeface="Calibri"/>
              </a:rPr>
              <a:t>Chat interface:</a:t>
            </a:r>
          </a:p>
          <a:p xmlns:a="http://schemas.openxmlformats.org/drawingml/2006/main">
            <a:r>
              <a:rPr lang="en-US" sz="1500" b="0">
                <a:solidFill>
                  <a:srgbClr val="FFFFFF"/>
                </a:solidFill>
                <a:latin typeface="Calibri"/>
                <a:ea typeface="Calibri"/>
              </a:rPr>
              <a:t>Bot welcome message</a:t>
            </a:r>
          </a:p>
          <a:p xmlns:a="http://schemas.openxmlformats.org/drawingml/2006/main">
            <a:r>
              <a:rPr lang="en-US" sz="1500" b="0">
                <a:solidFill>
                  <a:srgbClr val="FFFFFF"/>
                </a:solidFill>
                <a:latin typeface="Calibri"/>
                <a:ea typeface="Calibri"/>
              </a:rPr>
              <a:t>Quick suggestion chips</a:t>
            </a:r>
          </a:p>
          <a:p xmlns:a="http://schemas.openxmlformats.org/drawingml/2006/main">
            <a:r>
              <a:rPr lang="en-US" sz="1500" b="0">
                <a:solidFill>
                  <a:srgbClr val="FFFFFF"/>
                </a:solidFill>
                <a:latin typeface="Calibri"/>
                <a:ea typeface="Calibri"/>
              </a:rPr>
              <a:t>6 common queries</a:t>
            </a:r>
          </a:p>
          <a:p xmlns:a="http://schemas.openxmlformats.org/drawingml/2006/main">
            <a:r>
              <a:rPr lang="en-US" sz="1500" b="0">
                <a:solidFill>
                  <a:srgbClr val="FFFFFF"/>
                </a:solidFill>
                <a:latin typeface="Calibri"/>
                <a:ea typeface="Calibri"/>
              </a:rPr>
              <a:t>Typing indicator</a:t>
            </a:r>
          </a:p>
          <a:p xmlns:a="http://schemas.openxmlformats.org/drawingml/2006/main">
            <a:r>
              <a:rPr lang="en-US" sz="1500" b="0">
                <a:solidFill>
                  <a:srgbClr val="FFFFFF"/>
                </a:solidFill>
                <a:latin typeface="Calibri"/>
                <a:ea typeface="Calibri"/>
              </a:rPr>
              <a:t>Real-time answers</a:t>
            </a:r>
          </a:p>
          <a:p xmlns:a="http://schemas.openxmlformats.org/drawingml/2006/main">
            <a:r>
              <a:rPr lang="en-US" sz="1500" b="0">
                <a:solidFill>
                  <a:srgbClr val="FFFFFF"/>
                </a:solidFill>
                <a:latin typeface="Calibri"/>
                <a:ea typeface="Calibri"/>
              </a:rPr>
              <a:t>Keyboard + click send</a:t>
            </a:r>
          </a:p>
        </p:txBody>
      </p:sp>
      <p:sp>
        <p:nvSpPr>
          <p:cNvPr id="100093" name="Tab3"/>
          <p:cNvSpPr txBox="1"/>
          <p:nvPr/>
        </p:nvSpPr>
        <p:spPr>
          <a:xfrm xmlns:a="http://schemas.openxmlformats.org/drawingml/2006/main">
            <a:off x="7920000" y="2340000"/>
            <a:ext cx="3060000" cy="2700000"/>
          </a:xfrm>
          <a:prstGeom xmlns:a="http://schemas.openxmlformats.org/drawingml/2006/main" prst="rect">
            <a:avLst/>
          </a:prstGeom>
          <a:solidFill xmlns:a="http://schemas.openxmlformats.org/drawingml/2006/main">
            <a:srgbClr val="0F3057"/>
          </a:solidFill>
        </p:spPr>
        <p:txBody>
          <a:bodyPr xmlns:a="http://schemas.openxmlformats.org/drawingml/2006/main"/>
          <a:lstStyle xmlns:a="http://schemas.openxmlformats.org/drawingml/2006/main"/>
          <a:p xmlns:a="http://schemas.openxmlformats.org/drawingml/2006/main">
            <a:r>
              <a:rPr lang="en-US" sz="1500" b="0">
                <a:solidFill>
                  <a:srgbClr val="FFFFFF"/>
                </a:solidFill>
                <a:latin typeface="Calibri"/>
                <a:ea typeface="Calibri"/>
              </a:rPr>
              <a:t>Tab 3: Saved Plans</a:t>
            </a:r>
          </a:p>
          <a:p xmlns:a="http://schemas.openxmlformats.org/drawingml/2006/main">
            <a:r>
              <a:rPr lang="en-US" sz="1500" b="0">
                <a:solidFill>
                  <a:srgbClr val="FFFFFF"/>
                </a:solidFill>
                <a:latin typeface="Calibri"/>
                <a:ea typeface="Calibri"/>
              </a:rPr>
              <a:t>History browser:</a:t>
            </a:r>
          </a:p>
          <a:p xmlns:a="http://schemas.openxmlformats.org/drawingml/2006/main">
            <a:r>
              <a:rPr lang="en-US" sz="1500" b="0">
                <a:solidFill>
                  <a:srgbClr val="FFFFFF"/>
                </a:solidFill>
                <a:latin typeface="Calibri"/>
                <a:ea typeface="Calibri"/>
              </a:rPr>
              <a:t>All generated plans</a:t>
            </a:r>
          </a:p>
          <a:p xmlns:a="http://schemas.openxmlformats.org/drawingml/2006/main">
            <a:r>
              <a:rPr lang="en-US" sz="1500" b="0">
                <a:solidFill>
                  <a:srgbClr val="FFFFFF"/>
                </a:solidFill>
                <a:latin typeface="Calibri"/>
                <a:ea typeface="Calibri"/>
              </a:rPr>
              <a:t>Filename + username</a:t>
            </a:r>
          </a:p>
          <a:p xmlns:a="http://schemas.openxmlformats.org/drawingml/2006/main">
            <a:r>
              <a:rPr lang="en-US" sz="1500" b="0">
                <a:solidFill>
                  <a:srgbClr val="FFFFFF"/>
                </a:solidFill>
                <a:latin typeface="Calibri"/>
                <a:ea typeface="Calibri"/>
              </a:rPr>
              <a:t>Timestamp display</a:t>
            </a:r>
          </a:p>
          <a:p xmlns:a="http://schemas.openxmlformats.org/drawingml/2006/main">
            <a:r>
              <a:rPr lang="en-US" sz="1500" b="0">
                <a:solidFill>
                  <a:srgbClr val="FFFFFF"/>
                </a:solidFill>
                <a:latin typeface="Calibri"/>
                <a:ea typeface="Calibri"/>
              </a:rPr>
              <a:t>View plan button</a:t>
            </a:r>
          </a:p>
          <a:p xmlns:a="http://schemas.openxmlformats.org/drawingml/2006/main">
            <a:r>
              <a:rPr lang="en-US" sz="1500" b="0">
                <a:solidFill>
                  <a:srgbClr val="FFFFFF"/>
                </a:solidFill>
                <a:latin typeface="Calibri"/>
                <a:ea typeface="Calibri"/>
              </a:rPr>
              <a:t>Reload from .md file</a:t>
            </a:r>
          </a:p>
        </p:txBody>
      </p:sp>
      <p:sp>
        <p:nvSpPr>
          <p:cNvPr id="100094" name="Footer"/>
          <p:cNvSpPr txBox="1"/>
          <p:nvPr/>
        </p:nvSpPr>
        <p:spPr>
          <a:xfrm xmlns:a="http://schemas.openxmlformats.org/drawingml/2006/main">
            <a:off x="720000" y="5220000"/>
            <a:ext cx="10440000" cy="432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300" b="0">
                <a:solidFill>
                  <a:srgbClr val="6B7280"/>
                </a:solidFill>
                <a:latin typeface="Calibri"/>
                <a:ea typeface="Calibri"/>
              </a:rPr>
              <a:t>FOOTER  NutriBot © 2024  |  IBM Granite Nutrition Agentic AI  |  For informational purposes only</a:t>
            </a:r>
          </a:p>
        </p:txBody>
      </p:sp>
      <p:sp>
        <p:nvSpPr>
          <p:cNvPr id="100095" name="Tech"/>
          <p:cNvSpPr txBox="1"/>
          <p:nvPr/>
        </p:nvSpPr>
        <p:spPr>
          <a:xfrm xmlns:a="http://schemas.openxmlformats.org/drawingml/2006/main">
            <a:off x="720000" y="5760000"/>
            <a:ext cx="104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0">
                <a:solidFill>
                  <a:srgbClr val="A8B8C8"/>
                </a:solidFill>
                <a:latin typeface="Calibri"/>
                <a:ea typeface="Calibri"/>
              </a:rPr>
              <a:t>Tech: Flask  |  Jinja2 Templates  |  Vanilla JS (no framework)  |  CSS Custom Properties  |  Fetch API  |  Responsive design</a:t>
            </a:r>
          </a:p>
        </p:txBody>
      </p:sp>
      <p:sp>
        <p:nvSpPr>
          <p:cNvPr id="100096"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b="0">
                <a:solidFill>
                  <a:srgbClr val="FFFFFF"/>
                </a:solidFill>
              </a:rPr>
              <a:t>NutriBot — IBM Granite Nutrition Agentic AI  |  Slide 09</a:t>
            </a:r>
          </a:p>
        </p:txBody>
      </p:sp>
    </p:spTree>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97"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098"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D1B2A"/>
                </a:solidFill>
                <a:latin typeface="Calibri"/>
                <a:ea typeface="Calibri"/>
              </a:rPr>
              <a:t>User Profile Collection — 3-Step Wizard</a:t>
            </a:r>
          </a:p>
        </p:txBody>
      </p:sp>
      <p:sp>
        <p:nvSpPr>
          <p:cNvPr id="100099"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0F62FE"/>
              </a:solidFill>
            </a:endParaRPr>
          </a:p>
        </p:txBody>
      </p:sp>
      <p:sp>
        <p:nvSpPr>
          <p:cNvPr id="100100" name="StepBar"/>
          <p:cNvSpPr txBox="1"/>
          <p:nvPr/>
        </p:nvSpPr>
        <p:spPr>
          <a:xfrm xmlns:a="http://schemas.openxmlformats.org/drawingml/2006/main">
            <a:off x="720000" y="1188000"/>
            <a:ext cx="10440000" cy="360000"/>
          </a:xfrm>
          <a:prstGeom xmlns:a="http://schemas.openxmlformats.org/drawingml/2006/main" prst="rect">
            <a:avLst/>
          </a:prstGeom>
          <a:solidFill xmlns:a="http://schemas.openxmlformats.org/drawingml/2006/main">
            <a:srgbClr val="E8F0FE"/>
          </a:solidFill>
        </p:spPr>
        <p:txBody>
          <a:bodyPr xmlns:a="http://schemas.openxmlformats.org/drawingml/2006/main"/>
          <a:lstStyle xmlns:a="http://schemas.openxmlformats.org/drawingml/2006/main"/>
          <a:p xmlns:a="http://schemas.openxmlformats.org/drawingml/2006/main">
            <a:r>
              <a:rPr lang="en-US" sz="1600" b="1">
                <a:solidFill>
                  <a:srgbClr val="0F62FE"/>
                </a:solidFill>
                <a:latin typeface="Calibri"/>
                <a:ea typeface="Calibri"/>
              </a:rPr>
              <a:t>  1  Profile  ————————  2  Health  ————————  3  Goals  ————————  4  Plan</a:t>
            </a:r>
          </a:p>
        </p:txBody>
      </p:sp>
      <p:sp>
        <p:nvSpPr>
          <p:cNvPr id="100101" name="S1Title"/>
          <p:cNvSpPr txBox="1"/>
          <p:nvPr/>
        </p:nvSpPr>
        <p:spPr>
          <a:xfrm xmlns:a="http://schemas.openxmlformats.org/drawingml/2006/main">
            <a:off x="720000" y="1800000"/>
            <a:ext cx="306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1">
                <a:solidFill>
                  <a:srgbClr val="0F62FE"/>
                </a:solidFill>
                <a:latin typeface="Calibri"/>
                <a:ea typeface="Calibri"/>
              </a:rPr>
              <a:t>Step 1 — Basic Profile</a:t>
            </a:r>
          </a:p>
        </p:txBody>
      </p:sp>
      <p:sp>
        <p:nvSpPr>
          <p:cNvPr id="100102" name="S1Fields"/>
          <p:cNvSpPr txBox="1"/>
          <p:nvPr/>
        </p:nvSpPr>
        <p:spPr>
          <a:xfrm xmlns:a="http://schemas.openxmlformats.org/drawingml/2006/main">
            <a:off x="720000" y="2196000"/>
            <a:ext cx="3060000" cy="1800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600" b="0">
                <a:solidFill>
                  <a:srgbClr val="333333"/>
                </a:solidFill>
                <a:latin typeface="Calibri"/>
                <a:ea typeface="Calibri"/>
              </a:rPr>
              <a:t>Full Name  *</a:t>
            </a:r>
          </a:p>
          <a:p xmlns:a="http://schemas.openxmlformats.org/drawingml/2006/main">
            <a:r>
              <a:rPr lang="en-US" sz="1600" b="0">
                <a:solidFill>
                  <a:srgbClr val="333333"/>
                </a:solidFill>
                <a:latin typeface="Calibri"/>
                <a:ea typeface="Calibri"/>
              </a:rPr>
              <a:t>Age  *</a:t>
            </a:r>
          </a:p>
          <a:p xmlns:a="http://schemas.openxmlformats.org/drawingml/2006/main">
            <a:r>
              <a:rPr lang="en-US" sz="1600" b="0">
                <a:solidFill>
                  <a:srgbClr val="333333"/>
                </a:solidFill>
                <a:latin typeface="Calibri"/>
                <a:ea typeface="Calibri"/>
              </a:rPr>
              <a:t>Weight (kg)</a:t>
            </a:r>
          </a:p>
          <a:p xmlns:a="http://schemas.openxmlformats.org/drawingml/2006/main">
            <a:r>
              <a:rPr lang="en-US" sz="1600" b="0">
                <a:solidFill>
                  <a:srgbClr val="333333"/>
                </a:solidFill>
                <a:latin typeface="Calibri"/>
                <a:ea typeface="Calibri"/>
              </a:rPr>
              <a:t>Height (cm)</a:t>
            </a:r>
          </a:p>
          <a:p xmlns:a="http://schemas.openxmlformats.org/drawingml/2006/main">
            <a:r>
              <a:rPr lang="en-US" sz="1600" b="0">
                <a:solidFill>
                  <a:srgbClr val="333333"/>
                </a:solidFill>
                <a:latin typeface="Calibri"/>
                <a:ea typeface="Calibri"/>
              </a:rPr>
              <a:t>City  *</a:t>
            </a:r>
          </a:p>
          <a:p xmlns:a="http://schemas.openxmlformats.org/drawingml/2006/main">
            <a:r>
              <a:rPr lang="en-US" sz="1600" b="0">
                <a:solidFill>
                  <a:srgbClr val="333333"/>
                </a:solidFill>
                <a:latin typeface="Calibri"/>
                <a:ea typeface="Calibri"/>
              </a:rPr>
              <a:t>Country  *</a:t>
            </a:r>
          </a:p>
        </p:txBody>
      </p:sp>
      <p:sp>
        <p:nvSpPr>
          <p:cNvPr id="100103" name="S2Title"/>
          <p:cNvSpPr txBox="1"/>
          <p:nvPr/>
        </p:nvSpPr>
        <p:spPr>
          <a:xfrm xmlns:a="http://schemas.openxmlformats.org/drawingml/2006/main">
            <a:off x="4500000" y="1800000"/>
            <a:ext cx="306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1">
                <a:solidFill>
                  <a:srgbClr val="6929C4"/>
                </a:solidFill>
                <a:latin typeface="Calibri"/>
                <a:ea typeface="Calibri"/>
              </a:rPr>
              <a:t>Step 2 — Diet &amp; Health</a:t>
            </a:r>
          </a:p>
        </p:txBody>
      </p:sp>
      <p:sp>
        <p:nvSpPr>
          <p:cNvPr id="100104" name="S2Fields"/>
          <p:cNvSpPr txBox="1"/>
          <p:nvPr/>
        </p:nvSpPr>
        <p:spPr>
          <a:xfrm xmlns:a="http://schemas.openxmlformats.org/drawingml/2006/main">
            <a:off x="4500000" y="2196000"/>
            <a:ext cx="3060000" cy="1800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600" b="0">
                <a:solidFill>
                  <a:srgbClr val="333333"/>
                </a:solidFill>
                <a:latin typeface="Calibri"/>
                <a:ea typeface="Calibri"/>
              </a:rPr>
              <a:t>Diet Preference  *</a:t>
            </a:r>
          </a:p>
          <a:p xmlns:a="http://schemas.openxmlformats.org/drawingml/2006/main">
            <a:r>
              <a:rPr lang="en-US" sz="1600" b="0">
                <a:solidFill>
                  <a:srgbClr val="333333"/>
                </a:solidFill>
                <a:latin typeface="Calibri"/>
                <a:ea typeface="Calibri"/>
              </a:rPr>
              <a:t>  Vegetarian  /  Non-Vegetarian</a:t>
            </a:r>
          </a:p>
          <a:p xmlns:a="http://schemas.openxmlformats.org/drawingml/2006/main">
            <a:r>
              <a:rPr lang="en-US" sz="1600" b="0">
                <a:solidFill>
                  <a:srgbClr val="333333"/>
                </a:solidFill>
                <a:latin typeface="Calibri"/>
                <a:ea typeface="Calibri"/>
              </a:rPr>
              <a:t/>
            </a:r>
          </a:p>
          <a:p xmlns:a="http://schemas.openxmlformats.org/drawingml/2006/main">
            <a:r>
              <a:rPr lang="en-US" sz="1600" b="0">
                <a:solidFill>
                  <a:srgbClr val="333333"/>
                </a:solidFill>
                <a:latin typeface="Calibri"/>
                <a:ea typeface="Calibri"/>
              </a:rPr>
              <a:t>Medical History</a:t>
            </a:r>
          </a:p>
          <a:p xmlns:a="http://schemas.openxmlformats.org/drawingml/2006/main">
            <a:r>
              <a:rPr lang="en-US" sz="1600" b="0">
                <a:solidFill>
                  <a:srgbClr val="333333"/>
                </a:solidFill>
                <a:latin typeface="Calibri"/>
                <a:ea typeface="Calibri"/>
              </a:rPr>
              <a:t>  (Diabetes, BP, Thyroid...)</a:t>
            </a:r>
          </a:p>
          <a:p xmlns:a="http://schemas.openxmlformats.org/drawingml/2006/main">
            <a:r>
              <a:rPr lang="en-US" sz="1600" b="0">
                <a:solidFill>
                  <a:srgbClr val="333333"/>
                </a:solidFill>
                <a:latin typeface="Calibri"/>
                <a:ea typeface="Calibri"/>
              </a:rPr>
              <a:t/>
            </a:r>
          </a:p>
          <a:p xmlns:a="http://schemas.openxmlformats.org/drawingml/2006/main">
            <a:r>
              <a:rPr lang="en-US" sz="1600" b="0">
                <a:solidFill>
                  <a:srgbClr val="333333"/>
                </a:solidFill>
                <a:latin typeface="Calibri"/>
                <a:ea typeface="Calibri"/>
              </a:rPr>
              <a:t>Food Allergies</a:t>
            </a:r>
          </a:p>
        </p:txBody>
      </p:sp>
      <p:sp>
        <p:nvSpPr>
          <p:cNvPr id="100105" name="S3Title"/>
          <p:cNvSpPr txBox="1"/>
          <p:nvPr/>
        </p:nvSpPr>
        <p:spPr>
          <a:xfrm xmlns:a="http://schemas.openxmlformats.org/drawingml/2006/main">
            <a:off x="8280000" y="1800000"/>
            <a:ext cx="306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1">
                <a:solidFill>
                  <a:srgbClr val="198038"/>
                </a:solidFill>
                <a:latin typeface="Calibri"/>
                <a:ea typeface="Calibri"/>
              </a:rPr>
              <a:t>Step 3 — Health Goals</a:t>
            </a:r>
          </a:p>
        </p:txBody>
      </p:sp>
      <p:sp>
        <p:nvSpPr>
          <p:cNvPr id="100106" name="S3Fields"/>
          <p:cNvSpPr txBox="1"/>
          <p:nvPr/>
        </p:nvSpPr>
        <p:spPr>
          <a:xfrm xmlns:a="http://schemas.openxmlformats.org/drawingml/2006/main">
            <a:off x="8280000" y="2196000"/>
            <a:ext cx="3060000" cy="1980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500" b="0">
                <a:solidFill>
                  <a:srgbClr val="333333"/>
                </a:solidFill>
                <a:latin typeface="Calibri"/>
                <a:ea typeface="Calibri"/>
              </a:rPr>
              <a:t>Goal Buttons:</a:t>
            </a:r>
          </a:p>
          <a:p xmlns:a="http://schemas.openxmlformats.org/drawingml/2006/main">
            <a:r>
              <a:rPr lang="en-US" sz="1500" b="0">
                <a:solidFill>
                  <a:srgbClr val="333333"/>
                </a:solidFill>
                <a:latin typeface="Calibri"/>
                <a:ea typeface="Calibri"/>
              </a:rPr>
              <a:t>Maintain Health</a:t>
            </a:r>
          </a:p>
          <a:p xmlns:a="http://schemas.openxmlformats.org/drawingml/2006/main">
            <a:r>
              <a:rPr lang="en-US" sz="1500" b="0">
                <a:solidFill>
                  <a:srgbClr val="333333"/>
                </a:solidFill>
                <a:latin typeface="Calibri"/>
                <a:ea typeface="Calibri"/>
              </a:rPr>
              <a:t>Weight Loss</a:t>
            </a:r>
          </a:p>
          <a:p xmlns:a="http://schemas.openxmlformats.org/drawingml/2006/main">
            <a:r>
              <a:rPr lang="en-US" sz="1500" b="0">
                <a:solidFill>
                  <a:srgbClr val="333333"/>
                </a:solidFill>
                <a:latin typeface="Calibri"/>
                <a:ea typeface="Calibri"/>
              </a:rPr>
              <a:t>Muscle Gain</a:t>
            </a:r>
          </a:p>
          <a:p xmlns:a="http://schemas.openxmlformats.org/drawingml/2006/main">
            <a:r>
              <a:rPr lang="en-US" sz="1500" b="0">
                <a:solidFill>
                  <a:srgbClr val="333333"/>
                </a:solidFill>
                <a:latin typeface="Calibri"/>
                <a:ea typeface="Calibri"/>
              </a:rPr>
              <a:t>Manage Diabetes</a:t>
            </a:r>
          </a:p>
          <a:p xmlns:a="http://schemas.openxmlformats.org/drawingml/2006/main">
            <a:r>
              <a:rPr lang="en-US" sz="1500" b="0">
                <a:solidFill>
                  <a:srgbClr val="333333"/>
                </a:solidFill>
                <a:latin typeface="Calibri"/>
                <a:ea typeface="Calibri"/>
              </a:rPr>
              <a:t>Heart Health</a:t>
            </a:r>
          </a:p>
          <a:p xmlns:a="http://schemas.openxmlformats.org/drawingml/2006/main">
            <a:r>
              <a:rPr lang="en-US" sz="1500" b="0">
                <a:solidFill>
                  <a:srgbClr val="333333"/>
                </a:solidFill>
                <a:latin typeface="Calibri"/>
                <a:ea typeface="Calibri"/>
              </a:rPr>
              <a:t>Boost Energy</a:t>
            </a:r>
          </a:p>
          <a:p xmlns:a="http://schemas.openxmlformats.org/drawingml/2006/main">
            <a:r>
              <a:rPr lang="en-US" sz="1500" b="0">
                <a:solidFill>
                  <a:srgbClr val="333333"/>
                </a:solidFill>
                <a:latin typeface="Calibri"/>
                <a:ea typeface="Calibri"/>
              </a:rPr>
              <a:t/>
            </a:r>
          </a:p>
          <a:p xmlns:a="http://schemas.openxmlformats.org/drawingml/2006/main">
            <a:r>
              <a:rPr lang="en-US" sz="1500" b="0">
                <a:solidFill>
                  <a:srgbClr val="333333"/>
                </a:solidFill>
                <a:latin typeface="Calibri"/>
                <a:ea typeface="Calibri"/>
              </a:rPr>
              <a:t>+ Custom goal text</a:t>
            </a:r>
          </a:p>
        </p:txBody>
      </p:sp>
      <p:sp>
        <p:nvSpPr>
          <p:cNvPr id="100107" name="Validation"/>
          <p:cNvSpPr txBox="1"/>
          <p:nvPr/>
        </p:nvSpPr>
        <p:spPr>
          <a:xfrm xmlns:a="http://schemas.openxmlformats.org/drawingml/2006/main">
            <a:off x="720000" y="4860000"/>
            <a:ext cx="10440000" cy="540000"/>
          </a:xfrm>
          <a:prstGeom xmlns:a="http://schemas.openxmlformats.org/drawingml/2006/main" prst="rect">
            <a:avLst/>
          </a:prstGeom>
          <a:solidFill xmlns:a="http://schemas.openxmlformats.org/drawingml/2006/main">
            <a:srgbClr val="FEF3C7"/>
          </a:solidFill>
        </p:spPr>
        <p:txBody>
          <a:bodyPr xmlns:a="http://schemas.openxmlformats.org/drawingml/2006/main"/>
          <a:lstStyle xmlns:a="http://schemas.openxmlformats.org/drawingml/2006/main"/>
          <a:p xmlns:a="http://schemas.openxmlformats.org/drawingml/2006/main">
            <a:r>
              <a:rPr lang="en-US" sz="1600" b="0">
                <a:solidFill>
                  <a:srgbClr val="92400E"/>
                </a:solidFill>
                <a:latin typeface="Calibri"/>
                <a:ea typeface="Calibri"/>
              </a:rPr>
              <a:t>Client-side validation: name length, age 2-120, required fields checked before each step. Server-side: validate_user_input() + check_prompt_safety() guard all inputs.</a:t>
            </a:r>
          </a:p>
        </p:txBody>
      </p:sp>
      <p:sp>
        <p:nvSpPr>
          <p:cNvPr id="100108"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200" b="0">
                <a:solidFill>
                  <a:srgbClr val="A8B8C8"/>
                </a:solidFill>
              </a:rPr>
              <a:t>NutriBot — IBM Granite Nutrition Agentic AI  |  Slide 10</a:t>
            </a:r>
          </a:p>
        </p:txBody>
      </p:sp>
    </p:spTree>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09"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110"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D1B2A"/>
                </a:solidFill>
                <a:latin typeface="Calibri"/>
                <a:ea typeface="Calibri"/>
              </a:rPr>
              <a:t>Plan Generation Output — Loading &amp; Result</a:t>
            </a:r>
          </a:p>
        </p:txBody>
      </p:sp>
      <p:sp>
        <p:nvSpPr>
          <p:cNvPr id="100111"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0F62FE"/>
              </a:solidFill>
            </a:endParaRPr>
          </a:p>
        </p:txBody>
      </p:sp>
      <p:sp>
        <p:nvSpPr>
          <p:cNvPr id="100112" name="LoadTitle"/>
          <p:cNvSpPr txBox="1"/>
          <p:nvPr/>
        </p:nvSpPr>
        <p:spPr>
          <a:xfrm xmlns:a="http://schemas.openxmlformats.org/drawingml/2006/main">
            <a:off x="720000" y="1260000"/>
            <a:ext cx="50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1">
                <a:solidFill>
                  <a:srgbClr val="0F62FE"/>
                </a:solidFill>
                <a:latin typeface="Calibri"/>
                <a:ea typeface="Calibri"/>
              </a:rPr>
              <a:t>Loading State — Animated Steps</a:t>
            </a:r>
          </a:p>
        </p:txBody>
      </p:sp>
      <p:sp>
        <p:nvSpPr>
          <p:cNvPr id="100113" name="LoadSteps"/>
          <p:cNvSpPr txBox="1"/>
          <p:nvPr/>
        </p:nvSpPr>
        <p:spPr>
          <a:xfrm xmlns:a="http://schemas.openxmlformats.org/drawingml/2006/main">
            <a:off x="720000" y="1656000"/>
            <a:ext cx="5040000" cy="2160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600" b="0">
                <a:solidFill>
                  <a:srgbClr val="333333"/>
                </a:solidFill>
                <a:latin typeface="Calibri"/>
                <a:ea typeface="Calibri"/>
              </a:rPr>
              <a:t>[spinner]</a:t>
            </a:r>
          </a:p>
          <a:p xmlns:a="http://schemas.openxmlformats.org/drawingml/2006/main">
            <a:r>
              <a:rPr lang="en-US" sz="1600" b="0">
                <a:solidFill>
                  <a:srgbClr val="333333"/>
                </a:solidFill>
                <a:latin typeface="Calibri"/>
                <a:ea typeface="Calibri"/>
              </a:rPr>
              <a:t>IBM Granite AI is analysing your profile...</a:t>
            </a:r>
          </a:p>
          <a:p xmlns:a="http://schemas.openxmlformats.org/drawingml/2006/main">
            <a:r>
              <a:rPr lang="en-US" sz="1600" b="0">
                <a:solidFill>
                  <a:srgbClr val="333333"/>
                </a:solidFill>
                <a:latin typeface="Calibri"/>
                <a:ea typeface="Calibri"/>
              </a:rPr>
              <a:t/>
            </a:r>
          </a:p>
          <a:p xmlns:a="http://schemas.openxmlformats.org/drawingml/2006/main">
            <a:r>
              <a:rPr lang="en-US" sz="1600" b="0">
                <a:solidFill>
                  <a:srgbClr val="333333"/>
                </a:solidFill>
                <a:latin typeface="Calibri"/>
                <a:ea typeface="Calibri"/>
              </a:rPr>
              <a:t>  Validating profile</a:t>
            </a:r>
          </a:p>
          <a:p xmlns:a="http://schemas.openxmlformats.org/drawingml/2006/main">
            <a:r>
              <a:rPr lang="en-US" sz="1600" b="0">
                <a:solidFill>
                  <a:srgbClr val="333333"/>
                </a:solidFill>
                <a:latin typeface="Calibri"/>
                <a:ea typeface="Calibri"/>
              </a:rPr>
              <a:t>  Running safety guardrails</a:t>
            </a:r>
          </a:p>
          <a:p xmlns:a="http://schemas.openxmlformats.org/drawingml/2006/main">
            <a:r>
              <a:rPr lang="en-US" sz="1600" b="0">
                <a:solidFill>
                  <a:srgbClr val="333333"/>
                </a:solidFill>
                <a:latin typeface="Calibri"/>
                <a:ea typeface="Calibri"/>
              </a:rPr>
              <a:t>  Generating plan with IBM Granite</a:t>
            </a:r>
          </a:p>
          <a:p xmlns:a="http://schemas.openxmlformats.org/drawingml/2006/main">
            <a:r>
              <a:rPr lang="en-US" sz="1600" b="0">
                <a:solidFill>
                  <a:srgbClr val="333333"/>
                </a:solidFill>
                <a:latin typeface="Calibri"/>
                <a:ea typeface="Calibri"/>
              </a:rPr>
              <a:t>  Saving to Markdown file</a:t>
            </a:r>
          </a:p>
        </p:txBody>
      </p:sp>
      <p:sp>
        <p:nvSpPr>
          <p:cNvPr id="100114" name="ResultTitle"/>
          <p:cNvSpPr txBox="1"/>
          <p:nvPr/>
        </p:nvSpPr>
        <p:spPr>
          <a:xfrm xmlns:a="http://schemas.openxmlformats.org/drawingml/2006/main">
            <a:off x="6480000" y="1260000"/>
            <a:ext cx="50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1">
                <a:solidFill>
                  <a:srgbClr val="198038"/>
                </a:solidFill>
                <a:latin typeface="Calibri"/>
                <a:ea typeface="Calibri"/>
              </a:rPr>
              <a:t>Result State — Plan Ready</a:t>
            </a:r>
          </a:p>
        </p:txBody>
      </p:sp>
      <p:sp>
        <p:nvSpPr>
          <p:cNvPr id="100115" name="ResultUI"/>
          <p:cNvSpPr txBox="1"/>
          <p:nvPr/>
        </p:nvSpPr>
        <p:spPr>
          <a:xfrm xmlns:a="http://schemas.openxmlformats.org/drawingml/2006/main">
            <a:off x="6480000" y="1656000"/>
            <a:ext cx="5040000" cy="2160000"/>
          </a:xfrm>
          <a:prstGeom xmlns:a="http://schemas.openxmlformats.org/drawingml/2006/main" prst="rect">
            <a:avLst/>
          </a:prstGeom>
          <a:solidFill xmlns:a="http://schemas.openxmlformats.org/drawingml/2006/main">
            <a:srgbClr val="F0FFF4"/>
          </a:solidFill>
        </p:spPr>
        <p:txBody>
          <a:bodyPr xmlns:a="http://schemas.openxmlformats.org/drawingml/2006/main"/>
          <a:lstStyle xmlns:a="http://schemas.openxmlformats.org/drawingml/2006/main"/>
          <a:p xmlns:a="http://schemas.openxmlformats.org/drawingml/2006/main">
            <a:r>
              <a:rPr lang="en-US" sz="1500" b="0">
                <a:solidFill>
                  <a:srgbClr val="065F46"/>
                </a:solidFill>
                <a:latin typeface="Calibri"/>
                <a:ea typeface="Calibri"/>
              </a:rPr>
              <a:t>Your Nutrition Plan is Ready!</a:t>
            </a:r>
          </a:p>
          <a:p xmlns:a="http://schemas.openxmlformats.org/drawingml/2006/main">
            <a:r>
              <a:rPr lang="en-US" sz="1500" b="0">
                <a:solidFill>
                  <a:srgbClr val="065F46"/>
                </a:solidFill>
                <a:latin typeface="Calibri"/>
                <a:ea typeface="Calibri"/>
              </a:rPr>
              <a:t/>
            </a:r>
          </a:p>
          <a:p xmlns:a="http://schemas.openxmlformats.org/drawingml/2006/main">
            <a:r>
              <a:rPr lang="en-US" sz="1500" b="0">
                <a:solidFill>
                  <a:srgbClr val="065F46"/>
                </a:solidFill>
                <a:latin typeface="Calibri"/>
                <a:ea typeface="Calibri"/>
              </a:rPr>
              <a:t>[Copy]  [Download .md]  [New Plan]</a:t>
            </a:r>
          </a:p>
          <a:p xmlns:a="http://schemas.openxmlformats.org/drawingml/2006/main">
            <a:r>
              <a:rPr lang="en-US" sz="1500" b="0">
                <a:solidFill>
                  <a:srgbClr val="065F46"/>
                </a:solidFill>
                <a:latin typeface="Calibri"/>
                <a:ea typeface="Calibri"/>
              </a:rPr>
              <a:t/>
            </a:r>
          </a:p>
          <a:p xmlns:a="http://schemas.openxmlformats.org/drawingml/2006/main">
            <a:r>
              <a:rPr lang="en-US" sz="1500" b="0">
                <a:solidFill>
                  <a:srgbClr val="065F46"/>
                </a:solidFill>
                <a:latin typeface="Calibri"/>
                <a:ea typeface="Calibri"/>
              </a:rPr>
              <a:t>Saved: .../plans/nutrition_plan_priya_sharma_...</a:t>
            </a:r>
          </a:p>
          <a:p xmlns:a="http://schemas.openxmlformats.org/drawingml/2006/main">
            <a:r>
              <a:rPr lang="en-US" sz="1500" b="0">
                <a:solidFill>
                  <a:srgbClr val="065F46"/>
                </a:solidFill>
                <a:latin typeface="Calibri"/>
                <a:ea typeface="Calibri"/>
              </a:rPr>
              <a:t/>
            </a:r>
          </a:p>
          <a:p xmlns:a="http://schemas.openxmlformats.org/drawingml/2006/main">
            <a:r>
              <a:rPr lang="en-US" sz="1500" b="0">
                <a:solidFill>
                  <a:srgbClr val="065F46"/>
                </a:solidFill>
                <a:latin typeface="Calibri"/>
                <a:ea typeface="Calibri"/>
              </a:rPr>
              <a:t>[Scrollable Markdown plan rendered in UI]</a:t>
            </a:r>
          </a:p>
          <a:p xmlns:a="http://schemas.openxmlformats.org/drawingml/2006/main">
            <a:r>
              <a:rPr lang="en-US" sz="1500" b="0">
                <a:solidFill>
                  <a:srgbClr val="065F46"/>
                </a:solidFill>
                <a:latin typeface="Calibri"/>
                <a:ea typeface="Calibri"/>
              </a:rPr>
              <a:t>  - Headers, tables, bullet lists</a:t>
            </a:r>
          </a:p>
          <a:p xmlns:a="http://schemas.openxmlformats.org/drawingml/2006/main">
            <a:r>
              <a:rPr lang="en-US" sz="1500" b="0">
                <a:solidFill>
                  <a:srgbClr val="065F46"/>
                </a:solidFill>
                <a:latin typeface="Calibri"/>
                <a:ea typeface="Calibri"/>
              </a:rPr>
              <a:t>  - Medical disclaimer at bottom</a:t>
            </a:r>
          </a:p>
        </p:txBody>
      </p:sp>
      <p:sp>
        <p:nvSpPr>
          <p:cNvPr id="100116" name="APIResponse"/>
          <p:cNvSpPr txBox="1"/>
          <p:nvPr/>
        </p:nvSpPr>
        <p:spPr>
          <a:xfrm xmlns:a="http://schemas.openxmlformats.org/drawingml/2006/main">
            <a:off x="720000" y="4068000"/>
            <a:ext cx="10440000" cy="1440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600" b="0">
                <a:solidFill>
                  <a:srgbClr val="82CFFF"/>
                </a:solidFill>
                <a:latin typeface="Calibri"/>
                <a:ea typeface="Calibri"/>
              </a:rPr>
              <a:t>API Response  —  POST /api/generate-plan</a:t>
            </a:r>
          </a:p>
          <a:p xmlns:a="http://schemas.openxmlformats.org/drawingml/2006/main">
            <a:r>
              <a:rPr lang="en-US" sz="1600" b="0">
                <a:solidFill>
                  <a:srgbClr val="82CFFF"/>
                </a:solidFill>
                <a:latin typeface="Calibri"/>
                <a:ea typeface="Calibri"/>
              </a:rPr>
              <a:t>{</a:t>
            </a:r>
          </a:p>
          <a:p xmlns:a="http://schemas.openxmlformats.org/drawingml/2006/main">
            <a:r>
              <a:rPr lang="en-US" sz="1600" b="0">
                <a:solidFill>
                  <a:srgbClr val="82CFFF"/>
                </a:solidFill>
                <a:latin typeface="Calibri"/>
                <a:ea typeface="Calibri"/>
              </a:rPr>
              <a:t>  "success": true,</a:t>
            </a:r>
          </a:p>
          <a:p xmlns:a="http://schemas.openxmlformats.org/drawingml/2006/main">
            <a:r>
              <a:rPr lang="en-US" sz="1600" b="0">
                <a:solidFill>
                  <a:srgbClr val="82CFFF"/>
                </a:solidFill>
                <a:latin typeface="Calibri"/>
                <a:ea typeface="Calibri"/>
              </a:rPr>
              <a:t>  "plan": "## Personalized Vegetarian Nutrition Plan...",</a:t>
            </a:r>
          </a:p>
          <a:p xmlns:a="http://schemas.openxmlformats.org/drawingml/2006/main">
            <a:r>
              <a:rPr lang="en-US" sz="1600" b="0">
                <a:solidFill>
                  <a:srgbClr val="82CFFF"/>
                </a:solidFill>
                <a:latin typeface="Calibri"/>
                <a:ea typeface="Calibri"/>
              </a:rPr>
              <a:t>  "filepath": "C:\\...\\plans\\nutrition_plan_priya_sharma_20261011.md"</a:t>
            </a:r>
          </a:p>
          <a:p xmlns:a="http://schemas.openxmlformats.org/drawingml/2006/main">
            <a:r>
              <a:rPr lang="en-US" sz="1600" b="0">
                <a:solidFill>
                  <a:srgbClr val="82CFFF"/>
                </a:solidFill>
                <a:latin typeface="Calibri"/>
                <a:ea typeface="Calibri"/>
              </a:rPr>
              <a:t>}</a:t>
            </a:r>
          </a:p>
        </p:txBody>
      </p:sp>
      <p:sp>
        <p:nvSpPr>
          <p:cNvPr id="100117"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200" b="0">
                <a:solidFill>
                  <a:srgbClr val="A8B8C8"/>
                </a:solidFill>
              </a:rPr>
              <a:t>NutriBot — IBM Granite Nutrition Agentic AI  |  Slide 11</a:t>
            </a:r>
          </a:p>
        </p:txBody>
      </p:sp>
    </p:spTree>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18"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119"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0D1B2A"/>
                </a:solidFill>
                <a:latin typeface="Calibri"/>
                <a:ea typeface="Calibri"/>
              </a:rPr>
              <a:t>Chat Q&amp;A Agent — Ask NutriBot</a:t>
            </a:r>
          </a:p>
        </p:txBody>
      </p:sp>
      <p:sp>
        <p:nvSpPr>
          <p:cNvPr id="100120"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800">
              <a:solidFill>
                <a:srgbClr val="6929C4"/>
              </a:solidFill>
            </a:endParaRPr>
          </a:p>
        </p:txBody>
      </p:sp>
      <p:sp>
        <p:nvSpPr>
          <p:cNvPr id="100121" name="ChatArea"/>
          <p:cNvSpPr txBox="1"/>
          <p:nvPr/>
        </p:nvSpPr>
        <p:spPr>
          <a:xfrm xmlns:a="http://schemas.openxmlformats.org/drawingml/2006/main">
            <a:off x="720000" y="1224000"/>
            <a:ext cx="7560000" cy="3600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NutriBot: Hello! I am NutriBot, your IBM Granite-powered nutrition assistant. Ask me anything about nutrition, healthy eating, managing medical conditions through diet...</a:t>
            </a:r>
          </a:p>
          <a:p xmlns:a="http://schemas.openxmlformats.org/drawingml/2006/main">
            <a:r>
              <a:rPr lang="en-US" sz="1400" b="0">
                <a:solidFill>
                  <a:srgbClr val="333333"/>
                </a:solidFill>
                <a:latin typeface="Calibri"/>
                <a:ea typeface="Calibri"/>
              </a:rPr>
              <a:t/>
            </a:r>
          </a:p>
          <a:p xmlns:a="http://schemas.openxmlformats.org/drawingml/2006/main">
            <a:r>
              <a:rPr lang="en-US" sz="1400" b="0">
                <a:solidFill>
                  <a:srgbClr val="333333"/>
                </a:solidFill>
                <a:latin typeface="Calibri"/>
                <a:ea typeface="Calibri"/>
              </a:rPr>
              <a:t>User: What foods are good for diabetes?</a:t>
            </a:r>
          </a:p>
          <a:p xmlns:a="http://schemas.openxmlformats.org/drawingml/2006/main">
            <a:r>
              <a:rPr lang="en-US" sz="1400" b="0">
                <a:solidFill>
                  <a:srgbClr val="333333"/>
                </a:solidFill>
                <a:latin typeface="Calibri"/>
                <a:ea typeface="Calibri"/>
              </a:rPr>
              <a:t/>
            </a:r>
          </a:p>
          <a:p xmlns:a="http://schemas.openxmlformats.org/drawingml/2006/main">
            <a:r>
              <a:rPr lang="en-US" sz="1400" b="0">
                <a:solidFill>
                  <a:srgbClr val="333333"/>
                </a:solidFill>
                <a:latin typeface="Calibri"/>
                <a:ea typeface="Calibri"/>
              </a:rPr>
              <a:t>NutriBot: For diabetes management, focus on low-glycaemic index (GI) foods: oats, barley, legumes (lentils, chickpeas), leafy greens, broccoli, and whole grains. Avoid sugary beverages, white bread, and processed snacks. Monitor carbohydrate portions and pair carbs with protein or healthy fat to blunt glucose spikes. Always work with your diabetologist or dietitian for a personalised plan.</a:t>
            </a:r>
          </a:p>
          <a:p xmlns:a="http://schemas.openxmlformats.org/drawingml/2006/main">
            <a:r>
              <a:rPr lang="en-US" sz="1400" b="0">
                <a:solidFill>
                  <a:srgbClr val="333333"/>
                </a:solidFill>
                <a:latin typeface="Calibri"/>
                <a:ea typeface="Calibri"/>
              </a:rPr>
              <a:t/>
            </a:r>
          </a:p>
          <a:p xmlns:a="http://schemas.openxmlformats.org/drawingml/2006/main">
            <a:r>
              <a:rPr lang="en-US" sz="1400" b="0">
                <a:solidFill>
                  <a:srgbClr val="333333"/>
                </a:solidFill>
                <a:latin typeface="Calibri"/>
                <a:ea typeface="Calibri"/>
              </a:rPr>
              <a:t>User: How much water should I drink?</a:t>
            </a:r>
          </a:p>
          <a:p xmlns:a="http://schemas.openxmlformats.org/drawingml/2006/main">
            <a:r>
              <a:rPr lang="en-US" sz="1400" b="0">
                <a:solidFill>
                  <a:srgbClr val="333333"/>
                </a:solidFill>
                <a:latin typeface="Calibri"/>
                <a:ea typeface="Calibri"/>
              </a:rPr>
              <a:t/>
            </a:r>
          </a:p>
          <a:p xmlns:a="http://schemas.openxmlformats.org/drawingml/2006/main">
            <a:r>
              <a:rPr lang="en-US" sz="1400" b="0">
                <a:solidFill>
                  <a:srgbClr val="333333"/>
                </a:solidFill>
                <a:latin typeface="Calibri"/>
                <a:ea typeface="Calibri"/>
              </a:rPr>
              <a:t>NutriBot: A general guideline is 8-10 glasses (2-2.5 litres) of water per day. Your needs increase with exercise, heat, and certain medical conditions. Monitor urine colour - pale yellow indicates good hydration...</a:t>
            </a:r>
          </a:p>
        </p:txBody>
      </p:sp>
      <p:sp>
        <p:nvSpPr>
          <p:cNvPr id="100122" name="Chips"/>
          <p:cNvSpPr txBox="1"/>
          <p:nvPr/>
        </p:nvSpPr>
        <p:spPr>
          <a:xfrm xmlns:a="http://schemas.openxmlformats.org/drawingml/2006/main">
            <a:off x="720000" y="5040000"/>
            <a:ext cx="7560000" cy="1260000"/>
          </a:xfrm>
          <a:prstGeom xmlns:a="http://schemas.openxmlformats.org/drawingml/2006/main" prst="rect">
            <a:avLst/>
          </a:prstGeom>
          <a:solidFill xmlns:a="http://schemas.openxmlformats.org/drawingml/2006/main">
            <a:srgbClr val="EEF2FF"/>
          </a:solidFill>
        </p:spPr>
        <p:txBody>
          <a:bodyPr xmlns:a="http://schemas.openxmlformats.org/drawingml/2006/main"/>
          <a:lstStyle xmlns:a="http://schemas.openxmlformats.org/drawingml/2006/main"/>
          <a:p xmlns:a="http://schemas.openxmlformats.org/drawingml/2006/main">
            <a:r>
              <a:rPr lang="en-US" sz="1400" b="0">
                <a:solidFill>
                  <a:srgbClr val="0F62FE"/>
                </a:solidFill>
                <a:latin typeface="Calibri"/>
                <a:ea typeface="Calibri"/>
              </a:rPr>
              <a:t>Quick Suggestion Chips:</a:t>
            </a:r>
          </a:p>
          <a:p xmlns:a="http://schemas.openxmlformats.org/drawingml/2006/main">
            <a:r>
              <a:rPr lang="en-US" sz="1400" b="0">
                <a:solidFill>
                  <a:srgbClr val="0F62FE"/>
                </a:solidFill>
                <a:latin typeface="Calibri"/>
                <a:ea typeface="Calibri"/>
              </a:rPr>
              <a:t>[What foods help with diabetes?]</a:t>
            </a:r>
          </a:p>
          <a:p xmlns:a="http://schemas.openxmlformats.org/drawingml/2006/main">
            <a:r>
              <a:rPr lang="en-US" sz="1400" b="0">
                <a:solidFill>
                  <a:srgbClr val="0F62FE"/>
                </a:solidFill>
                <a:latin typeface="Calibri"/>
                <a:ea typeface="Calibri"/>
              </a:rPr>
              <a:t>[How much water should I drink?]</a:t>
            </a:r>
          </a:p>
          <a:p xmlns:a="http://schemas.openxmlformats.org/drawingml/2006/main">
            <a:r>
              <a:rPr lang="en-US" sz="1400" b="0">
                <a:solidFill>
                  <a:srgbClr val="0F62FE"/>
                </a:solidFill>
                <a:latin typeface="Calibri"/>
                <a:ea typeface="Calibri"/>
              </a:rPr>
              <a:t>[Best diet for weight loss?]</a:t>
            </a:r>
          </a:p>
          <a:p xmlns:a="http://schemas.openxmlformats.org/drawingml/2006/main">
            <a:r>
              <a:rPr lang="en-US" sz="1400" b="0">
                <a:solidFill>
                  <a:srgbClr val="0F62FE"/>
                </a:solidFill>
                <a:latin typeface="Calibri"/>
                <a:ea typeface="Calibri"/>
              </a:rPr>
              <a:t>[Foods to avoid with high blood pressure?]</a:t>
            </a:r>
          </a:p>
          <a:p xmlns:a="http://schemas.openxmlformats.org/drawingml/2006/main">
            <a:r>
              <a:rPr lang="en-US" sz="1400" b="0">
                <a:solidFill>
                  <a:srgbClr val="0F62FE"/>
                </a:solidFill>
                <a:latin typeface="Calibri"/>
                <a:ea typeface="Calibri"/>
              </a:rPr>
              <a:t>[What are good protein sources?]</a:t>
            </a:r>
          </a:p>
          <a:p xmlns:a="http://schemas.openxmlformats.org/drawingml/2006/main">
            <a:r>
              <a:rPr lang="en-US" sz="1400" b="0">
                <a:solidFill>
                  <a:srgbClr val="0F62FE"/>
                </a:solidFill>
                <a:latin typeface="Calibri"/>
                <a:ea typeface="Calibri"/>
              </a:rPr>
              <a:t>[How to improve gut health?]</a:t>
            </a:r>
          </a:p>
        </p:txBody>
      </p:sp>
      <p:sp>
        <p:nvSpPr>
          <p:cNvPr id="100123" name="FAQTitle"/>
          <p:cNvSpPr txBox="1"/>
          <p:nvPr/>
        </p:nvSpPr>
        <p:spPr>
          <a:xfrm xmlns:a="http://schemas.openxmlformats.org/drawingml/2006/main">
            <a:off x="8640000" y="1224000"/>
            <a:ext cx="288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6929C4"/>
                </a:solidFill>
                <a:latin typeface="Calibri"/>
                <a:ea typeface="Calibri"/>
              </a:rPr>
              <a:t>Built-in FAQ Answers</a:t>
            </a:r>
          </a:p>
        </p:txBody>
      </p:sp>
      <p:sp>
        <p:nvSpPr>
          <p:cNvPr id="100124" name="FAQ"/>
          <p:cNvSpPr txBox="1"/>
          <p:nvPr/>
        </p:nvSpPr>
        <p:spPr>
          <a:xfrm xmlns:a="http://schemas.openxmlformats.org/drawingml/2006/main">
            <a:off x="8640000" y="1620000"/>
            <a:ext cx="2880000" cy="3240000"/>
          </a:xfrm>
          <a:prstGeom xmlns:a="http://schemas.openxmlformats.org/drawingml/2006/main" prst="rect">
            <a:avLst/>
          </a:prstGeom>
          <a:solidFill xmlns:a="http://schemas.openxmlformats.org/drawingml/2006/main">
            <a:srgbClr val="F3E8FF"/>
          </a:solidFill>
        </p:spPr>
        <p:txBody>
          <a:bodyPr xmlns:a="http://schemas.openxmlformats.org/drawingml/2006/main"/>
          <a:lstStyle xmlns:a="http://schemas.openxmlformats.org/drawingml/2006/main"/>
          <a:p xmlns:a="http://schemas.openxmlformats.org/drawingml/2006/main">
            <a:r>
              <a:rPr lang="en-US" sz="1500" b="0">
                <a:solidFill>
                  <a:srgbClr val="333333"/>
                </a:solidFill>
                <a:latin typeface="Calibri"/>
                <a:ea typeface="Calibri"/>
              </a:rPr>
              <a:t>Diabetes foods</a:t>
            </a:r>
          </a:p>
          <a:p xmlns:a="http://schemas.openxmlformats.org/drawingml/2006/main">
            <a:r>
              <a:rPr lang="en-US" sz="1500" b="0">
                <a:solidFill>
                  <a:srgbClr val="333333"/>
                </a:solidFill>
                <a:latin typeface="Calibri"/>
                <a:ea typeface="Calibri"/>
              </a:rPr>
              <a:t>Water intake</a:t>
            </a:r>
          </a:p>
          <a:p xmlns:a="http://schemas.openxmlformats.org/drawingml/2006/main">
            <a:r>
              <a:rPr lang="en-US" sz="1500" b="0">
                <a:solidFill>
                  <a:srgbClr val="333333"/>
                </a:solidFill>
                <a:latin typeface="Calibri"/>
                <a:ea typeface="Calibri"/>
              </a:rPr>
              <a:t>Weight loss diet</a:t>
            </a:r>
          </a:p>
          <a:p xmlns:a="http://schemas.openxmlformats.org/drawingml/2006/main">
            <a:r>
              <a:rPr lang="en-US" sz="1500" b="0">
                <a:solidFill>
                  <a:srgbClr val="333333"/>
                </a:solidFill>
                <a:latin typeface="Calibri"/>
                <a:ea typeface="Calibri"/>
              </a:rPr>
              <a:t>Blood pressure foods</a:t>
            </a:r>
          </a:p>
          <a:p xmlns:a="http://schemas.openxmlformats.org/drawingml/2006/main">
            <a:r>
              <a:rPr lang="en-US" sz="1500" b="0">
                <a:solidFill>
                  <a:srgbClr val="333333"/>
                </a:solidFill>
                <a:latin typeface="Calibri"/>
                <a:ea typeface="Calibri"/>
              </a:rPr>
              <a:t>Protein sources</a:t>
            </a:r>
          </a:p>
          <a:p xmlns:a="http://schemas.openxmlformats.org/drawingml/2006/main">
            <a:r>
              <a:rPr lang="en-US" sz="1500" b="0">
                <a:solidFill>
                  <a:srgbClr val="333333"/>
                </a:solidFill>
                <a:latin typeface="Calibri"/>
                <a:ea typeface="Calibri"/>
              </a:rPr>
              <a:t>Gut health</a:t>
            </a:r>
          </a:p>
          <a:p xmlns:a="http://schemas.openxmlformats.org/drawingml/2006/main">
            <a:r>
              <a:rPr lang="en-US" sz="1500" b="0">
                <a:solidFill>
                  <a:srgbClr val="333333"/>
                </a:solidFill>
                <a:latin typeface="Calibri"/>
                <a:ea typeface="Calibri"/>
              </a:rPr>
              <a:t/>
            </a:r>
          </a:p>
          <a:p xmlns:a="http://schemas.openxmlformats.org/drawingml/2006/main">
            <a:r>
              <a:rPr lang="en-US" sz="1500" b="0">
                <a:solidFill>
                  <a:srgbClr val="333333"/>
                </a:solidFill>
                <a:latin typeface="Calibri"/>
                <a:ea typeface="Calibri"/>
              </a:rPr>
              <a:t>All answered via:</a:t>
            </a:r>
          </a:p>
          <a:p xmlns:a="http://schemas.openxmlformats.org/drawingml/2006/main">
            <a:r>
              <a:rPr lang="en-US" sz="1500" b="0">
                <a:solidFill>
                  <a:srgbClr val="333333"/>
                </a:solidFill>
                <a:latin typeface="Calibri"/>
                <a:ea typeface="Calibri"/>
              </a:rPr>
              <a:t>QueryAgent.answer_query()</a:t>
            </a:r>
          </a:p>
          <a:p xmlns:a="http://schemas.openxmlformats.org/drawingml/2006/main">
            <a:r>
              <a:rPr lang="en-US" sz="1500" b="0">
                <a:solidFill>
                  <a:srgbClr val="333333"/>
                </a:solidFill>
                <a:latin typeface="Calibri"/>
                <a:ea typeface="Calibri"/>
              </a:rPr>
              <a:t>FAQ lookup first,</a:t>
            </a:r>
          </a:p>
          <a:p xmlns:a="http://schemas.openxmlformats.org/drawingml/2006/main">
            <a:r>
              <a:rPr lang="en-US" sz="1500" b="0">
                <a:solidFill>
                  <a:srgbClr val="333333"/>
                </a:solidFill>
                <a:latin typeface="Calibri"/>
                <a:ea typeface="Calibri"/>
              </a:rPr>
              <a:t>then IBM Granite</a:t>
            </a:r>
          </a:p>
          <a:p xmlns:a="http://schemas.openxmlformats.org/drawingml/2006/main">
            <a:r>
              <a:rPr lang="en-US" sz="1500" b="0">
                <a:solidFill>
                  <a:srgbClr val="333333"/>
                </a:solidFill>
                <a:latin typeface="Calibri"/>
                <a:ea typeface="Calibri"/>
              </a:rPr>
              <a:t>fallback</a:t>
            </a:r>
          </a:p>
        </p:txBody>
      </p:sp>
      <p:sp>
        <p:nvSpPr>
          <p:cNvPr id="100125"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200" b="0">
                <a:solidFill>
                  <a:srgbClr val="A8B8C8"/>
                </a:solidFill>
              </a:rPr>
              <a:t>NutriBot — IBM Granite Nutrition Agentic AI  |  Slide 12</a:t>
            </a:r>
          </a:p>
        </p:txBody>
      </p:sp>
    </p:spTree>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26"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127"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D1B2A"/>
                </a:solidFill>
                <a:latin typeface="Calibri"/>
                <a:ea typeface="Calibri"/>
              </a:rPr>
              <a:t>Sample Plan — Priya Sharma  (From .md File)</a:t>
            </a:r>
          </a:p>
        </p:txBody>
      </p:sp>
      <p:sp>
        <p:nvSpPr>
          <p:cNvPr id="100128"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endParaRPr lang="en-US" sz="800">
              <a:solidFill>
                <a:srgbClr val="198038"/>
              </a:solidFill>
            </a:endParaRPr>
          </a:p>
        </p:txBody>
      </p:sp>
      <p:sp>
        <p:nvSpPr>
          <p:cNvPr id="100129" name="ProfileBadge"/>
          <p:cNvSpPr txBox="1"/>
          <p:nvPr/>
        </p:nvSpPr>
        <p:spPr>
          <a:xfrm xmlns:a="http://schemas.openxmlformats.org/drawingml/2006/main">
            <a:off x="720000" y="1188000"/>
            <a:ext cx="10440000" cy="432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600" b="0">
                <a:solidFill>
                  <a:srgbClr val="065F46"/>
                </a:solidFill>
                <a:latin typeface="Calibri"/>
                <a:ea typeface="Calibri"/>
              </a:rPr>
              <a:t>Name: Priya Sharma  |  Age: 32  |  Diet: Vegetarian  |  Condition: Type 2 Diabetes  |  Location: Mumbai, India  |  Generated: 2026-10-11</a:t>
            </a:r>
          </a:p>
        </p:txBody>
      </p:sp>
      <p:sp>
        <p:nvSpPr>
          <p:cNvPr id="100130" name="Breakfast"/>
          <p:cNvSpPr txBox="1"/>
          <p:nvPr/>
        </p:nvSpPr>
        <p:spPr>
          <a:xfrm xmlns:a="http://schemas.openxmlformats.org/drawingml/2006/main">
            <a:off x="720000" y="1800000"/>
            <a:ext cx="3240000" cy="1440000"/>
          </a:xfrm>
          <a:prstGeom xmlns:a="http://schemas.openxmlformats.org/drawingml/2006/main" prst="rect">
            <a:avLst/>
          </a:prstGeom>
          <a:solidFill xmlns:a="http://schemas.openxmlformats.org/drawingml/2006/main">
            <a:srgbClr val="FEF3C7"/>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BREAKFAST</a:t>
            </a:r>
          </a:p>
          <a:p xmlns:a="http://schemas.openxmlformats.org/drawingml/2006/main">
            <a:r>
              <a:rPr lang="en-US" sz="1400" b="0">
                <a:solidFill>
                  <a:srgbClr val="333333"/>
                </a:solidFill>
                <a:latin typeface="Calibri"/>
                <a:ea typeface="Calibri"/>
              </a:rPr>
              <a:t>Oatmeal with berries &amp; chia seeds</a:t>
            </a:r>
          </a:p>
          <a:p xmlns:a="http://schemas.openxmlformats.org/drawingml/2006/main">
            <a:r>
              <a:rPr lang="en-US" sz="1400" b="0">
                <a:solidFill>
                  <a:srgbClr val="333333"/>
                </a:solidFill>
                <a:latin typeface="Calibri"/>
                <a:ea typeface="Calibri"/>
              </a:rPr>
              <a:t>(low-glycaemic index)</a:t>
            </a:r>
          </a:p>
          <a:p xmlns:a="http://schemas.openxmlformats.org/drawingml/2006/main">
            <a:r>
              <a:rPr lang="en-US" sz="1400" b="0">
                <a:solidFill>
                  <a:srgbClr val="333333"/>
                </a:solidFill>
                <a:latin typeface="Calibri"/>
                <a:ea typeface="Calibri"/>
              </a:rPr>
              <a:t>Warm lemon water</a:t>
            </a:r>
          </a:p>
          <a:p xmlns:a="http://schemas.openxmlformats.org/drawingml/2006/main">
            <a:r>
              <a:rPr lang="en-US" sz="1400" b="0">
                <a:solidFill>
                  <a:srgbClr val="333333"/>
                </a:solidFill>
                <a:latin typeface="Calibri"/>
                <a:ea typeface="Calibri"/>
              </a:rPr>
              <a:t>1 serving paneer</a:t>
            </a:r>
          </a:p>
        </p:txBody>
      </p:sp>
      <p:sp>
        <p:nvSpPr>
          <p:cNvPr id="100131" name="Snack1"/>
          <p:cNvSpPr txBox="1"/>
          <p:nvPr/>
        </p:nvSpPr>
        <p:spPr>
          <a:xfrm xmlns:a="http://schemas.openxmlformats.org/drawingml/2006/main">
            <a:off x="4500000" y="1800000"/>
            <a:ext cx="3240000" cy="1440000"/>
          </a:xfrm>
          <a:prstGeom xmlns:a="http://schemas.openxmlformats.org/drawingml/2006/main" prst="rect">
            <a:avLst/>
          </a:prstGeom>
          <a:solidFill xmlns:a="http://schemas.openxmlformats.org/drawingml/2006/main">
            <a:srgbClr val="E0F2FE"/>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MID-MORNING SNACK</a:t>
            </a:r>
          </a:p>
          <a:p xmlns:a="http://schemas.openxmlformats.org/drawingml/2006/main">
            <a:r>
              <a:rPr lang="en-US" sz="1400" b="0">
                <a:solidFill>
                  <a:srgbClr val="333333"/>
                </a:solidFill>
                <a:latin typeface="Calibri"/>
                <a:ea typeface="Calibri"/>
              </a:rPr>
              <a:t>Mixed nuts and seeds</a:t>
            </a:r>
          </a:p>
          <a:p xmlns:a="http://schemas.openxmlformats.org/drawingml/2006/main">
            <a:r>
              <a:rPr lang="en-US" sz="1400" b="0">
                <a:solidFill>
                  <a:srgbClr val="333333"/>
                </a:solidFill>
                <a:latin typeface="Calibri"/>
                <a:ea typeface="Calibri"/>
              </a:rPr>
              <a:t>1 medium apple or pear</a:t>
            </a:r>
          </a:p>
          <a:p xmlns:a="http://schemas.openxmlformats.org/drawingml/2006/main">
            <a:r>
              <a:rPr lang="en-US" sz="1400" b="0">
                <a:solidFill>
                  <a:srgbClr val="333333"/>
                </a:solidFill>
                <a:latin typeface="Calibri"/>
                <a:ea typeface="Calibri"/>
              </a:rPr>
              <a:t>(low-glycaemic index)</a:t>
            </a:r>
          </a:p>
        </p:txBody>
      </p:sp>
      <p:sp>
        <p:nvSpPr>
          <p:cNvPr id="100132" name="Lunch"/>
          <p:cNvSpPr txBox="1"/>
          <p:nvPr/>
        </p:nvSpPr>
        <p:spPr>
          <a:xfrm xmlns:a="http://schemas.openxmlformats.org/drawingml/2006/main">
            <a:off x="8280000" y="1800000"/>
            <a:ext cx="3240000" cy="1440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LUNCH</a:t>
            </a:r>
          </a:p>
          <a:p xmlns:a="http://schemas.openxmlformats.org/drawingml/2006/main">
            <a:r>
              <a:rPr lang="en-US" sz="1400" b="0">
                <a:solidFill>
                  <a:srgbClr val="333333"/>
                </a:solidFill>
                <a:latin typeface="Calibri"/>
                <a:ea typeface="Calibri"/>
              </a:rPr>
              <a:t>Brown rice / quinoa (low-GI)</a:t>
            </a:r>
          </a:p>
          <a:p xmlns:a="http://schemas.openxmlformats.org/drawingml/2006/main">
            <a:r>
              <a:rPr lang="en-US" sz="1400" b="0">
                <a:solidFill>
                  <a:srgbClr val="333333"/>
                </a:solidFill>
                <a:latin typeface="Calibri"/>
                <a:ea typeface="Calibri"/>
              </a:rPr>
              <a:t>Mixed vegetables stir-fried</a:t>
            </a:r>
          </a:p>
          <a:p xmlns:a="http://schemas.openxmlformats.org/drawingml/2006/main">
            <a:r>
              <a:rPr lang="en-US" sz="1400" b="0">
                <a:solidFill>
                  <a:srgbClr val="333333"/>
                </a:solidFill>
                <a:latin typeface="Calibri"/>
                <a:ea typeface="Calibri"/>
              </a:rPr>
              <a:t>Dal / lentil curry (high fibre)</a:t>
            </a:r>
          </a:p>
          <a:p xmlns:a="http://schemas.openxmlformats.org/drawingml/2006/main">
            <a:r>
              <a:rPr lang="en-US" sz="1400" b="0">
                <a:solidFill>
                  <a:srgbClr val="333333"/>
                </a:solidFill>
                <a:latin typeface="Calibri"/>
                <a:ea typeface="Calibri"/>
              </a:rPr>
              <a:t>Salad with olive oil dressing</a:t>
            </a:r>
          </a:p>
        </p:txBody>
      </p:sp>
      <p:sp>
        <p:nvSpPr>
          <p:cNvPr id="100133" name="Snack2"/>
          <p:cNvSpPr txBox="1"/>
          <p:nvPr/>
        </p:nvSpPr>
        <p:spPr>
          <a:xfrm xmlns:a="http://schemas.openxmlformats.org/drawingml/2006/main">
            <a:off x="720000" y="3600000"/>
            <a:ext cx="3240000" cy="1260000"/>
          </a:xfrm>
          <a:prstGeom xmlns:a="http://schemas.openxmlformats.org/drawingml/2006/main" prst="rect">
            <a:avLst/>
          </a:prstGeom>
          <a:solidFill xmlns:a="http://schemas.openxmlformats.org/drawingml/2006/main">
            <a:srgbClr val="FCE7F3"/>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AFTERNOON SNACK</a:t>
            </a:r>
          </a:p>
          <a:p xmlns:a="http://schemas.openxmlformats.org/drawingml/2006/main">
            <a:r>
              <a:rPr lang="en-US" sz="1400" b="0">
                <a:solidFill>
                  <a:srgbClr val="333333"/>
                </a:solidFill>
                <a:latin typeface="Calibri"/>
                <a:ea typeface="Calibri"/>
              </a:rPr>
              <a:t>Low-fat yogurt / buttermilk</a:t>
            </a:r>
          </a:p>
          <a:p xmlns:a="http://schemas.openxmlformats.org/drawingml/2006/main">
            <a:r>
              <a:rPr lang="en-US" sz="1400" b="0">
                <a:solidFill>
                  <a:srgbClr val="333333"/>
                </a:solidFill>
                <a:latin typeface="Calibri"/>
                <a:ea typeface="Calibri"/>
              </a:rPr>
              <a:t>(low-glycaemic index)</a:t>
            </a:r>
          </a:p>
          <a:p xmlns:a="http://schemas.openxmlformats.org/drawingml/2006/main">
            <a:r>
              <a:rPr lang="en-US" sz="1400" b="0">
                <a:solidFill>
                  <a:srgbClr val="333333"/>
                </a:solidFill>
                <a:latin typeface="Calibri"/>
                <a:ea typeface="Calibri"/>
              </a:rPr>
              <a:t>Small fruit: banana / orange</a:t>
            </a:r>
          </a:p>
        </p:txBody>
      </p:sp>
      <p:sp>
        <p:nvSpPr>
          <p:cNvPr id="100134" name="Dinner"/>
          <p:cNvSpPr txBox="1"/>
          <p:nvPr/>
        </p:nvSpPr>
        <p:spPr>
          <a:xfrm xmlns:a="http://schemas.openxmlformats.org/drawingml/2006/main">
            <a:off x="4500000" y="3600000"/>
            <a:ext cx="3240000" cy="1260000"/>
          </a:xfrm>
          <a:prstGeom xmlns:a="http://schemas.openxmlformats.org/drawingml/2006/main" prst="rect">
            <a:avLst/>
          </a:prstGeom>
          <a:solidFill xmlns:a="http://schemas.openxmlformats.org/drawingml/2006/main">
            <a:srgbClr val="EDE9FE"/>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DINNER</a:t>
            </a:r>
          </a:p>
          <a:p xmlns:a="http://schemas.openxmlformats.org/drawingml/2006/main">
            <a:r>
              <a:rPr lang="en-US" sz="1400" b="0">
                <a:solidFill>
                  <a:srgbClr val="333333"/>
                </a:solidFill>
                <a:latin typeface="Calibri"/>
                <a:ea typeface="Calibri"/>
              </a:rPr>
              <a:t>Whole-wheat chapatis / brown rice</a:t>
            </a:r>
          </a:p>
          <a:p xmlns:a="http://schemas.openxmlformats.org/drawingml/2006/main">
            <a:r>
              <a:rPr lang="en-US" sz="1400" b="0">
                <a:solidFill>
                  <a:srgbClr val="333333"/>
                </a:solidFill>
                <a:latin typeface="Calibri"/>
                <a:ea typeface="Calibri"/>
              </a:rPr>
              <a:t>Grilled tofu / veg curry (low-Na)</a:t>
            </a:r>
          </a:p>
          <a:p xmlns:a="http://schemas.openxmlformats.org/drawingml/2006/main">
            <a:r>
              <a:rPr lang="en-US" sz="1400" b="0">
                <a:solidFill>
                  <a:srgbClr val="333333"/>
                </a:solidFill>
                <a:latin typeface="Calibri"/>
                <a:ea typeface="Calibri"/>
              </a:rPr>
              <a:t>Steamed broccoli / spinach</a:t>
            </a:r>
          </a:p>
          <a:p xmlns:a="http://schemas.openxmlformats.org/drawingml/2006/main">
            <a:r>
              <a:rPr lang="en-US" sz="1400" b="0">
                <a:solidFill>
                  <a:srgbClr val="333333"/>
                </a:solidFill>
                <a:latin typeface="Calibri"/>
                <a:ea typeface="Calibri"/>
              </a:rPr>
              <a:t>Herbal tea (chamomile / tulsi)</a:t>
            </a:r>
          </a:p>
        </p:txBody>
      </p:sp>
      <p:sp>
        <p:nvSpPr>
          <p:cNvPr id="100135" name="Targets"/>
          <p:cNvSpPr txBox="1"/>
          <p:nvPr/>
        </p:nvSpPr>
        <p:spPr>
          <a:xfrm xmlns:a="http://schemas.openxmlformats.org/drawingml/2006/main">
            <a:off x="8280000" y="3600000"/>
            <a:ext cx="3240000" cy="1260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400" b="0">
                <a:solidFill>
                  <a:srgbClr val="FFFFFF"/>
                </a:solidFill>
                <a:latin typeface="Calibri"/>
                <a:ea typeface="Calibri"/>
              </a:rPr>
              <a:t>DAILY TARGETS</a:t>
            </a:r>
          </a:p>
          <a:p xmlns:a="http://schemas.openxmlformats.org/drawingml/2006/main">
            <a:r>
              <a:rPr lang="en-US" sz="1400" b="0">
                <a:solidFill>
                  <a:srgbClr val="FFFFFF"/>
                </a:solidFill>
                <a:latin typeface="Calibri"/>
                <a:ea typeface="Calibri"/>
              </a:rPr>
              <a:t>Calories: 1,800-2,200 kcal</a:t>
            </a:r>
          </a:p>
          <a:p xmlns:a="http://schemas.openxmlformats.org/drawingml/2006/main">
            <a:r>
              <a:rPr lang="en-US" sz="1400" b="0">
                <a:solidFill>
                  <a:srgbClr val="FFFFFF"/>
                </a:solidFill>
                <a:latin typeface="Calibri"/>
                <a:ea typeface="Calibri"/>
              </a:rPr>
              <a:t>Protein: 55-70 g</a:t>
            </a:r>
          </a:p>
          <a:p xmlns:a="http://schemas.openxmlformats.org/drawingml/2006/main">
            <a:r>
              <a:rPr lang="en-US" sz="1400" b="0">
                <a:solidFill>
                  <a:srgbClr val="FFFFFF"/>
                </a:solidFill>
                <a:latin typeface="Calibri"/>
                <a:ea typeface="Calibri"/>
              </a:rPr>
              <a:t>Carbs: 200-250 g</a:t>
            </a:r>
          </a:p>
          <a:p xmlns:a="http://schemas.openxmlformats.org/drawingml/2006/main">
            <a:r>
              <a:rPr lang="en-US" sz="1400" b="0">
                <a:solidFill>
                  <a:srgbClr val="FFFFFF"/>
                </a:solidFill>
                <a:latin typeface="Calibri"/>
                <a:ea typeface="Calibri"/>
              </a:rPr>
              <a:t>Fat: 50-65 g</a:t>
            </a:r>
          </a:p>
          <a:p xmlns:a="http://schemas.openxmlformats.org/drawingml/2006/main">
            <a:r>
              <a:rPr lang="en-US" sz="1400" b="0">
                <a:solidFill>
                  <a:srgbClr val="FFFFFF"/>
                </a:solidFill>
                <a:latin typeface="Calibri"/>
                <a:ea typeface="Calibri"/>
              </a:rPr>
              <a:t>Fibre: 25-35 g</a:t>
            </a:r>
          </a:p>
          <a:p xmlns:a="http://schemas.openxmlformats.org/drawingml/2006/main">
            <a:r>
              <a:rPr lang="en-US" sz="1400" b="0">
                <a:solidFill>
                  <a:srgbClr val="FFFFFF"/>
                </a:solidFill>
                <a:latin typeface="Calibri"/>
                <a:ea typeface="Calibri"/>
              </a:rPr>
              <a:t>Sodium: &lt;1,500 mg</a:t>
            </a:r>
          </a:p>
          <a:p xmlns:a="http://schemas.openxmlformats.org/drawingml/2006/main">
            <a:r>
              <a:rPr lang="en-US" sz="1400" b="0">
                <a:solidFill>
                  <a:srgbClr val="FFFFFF"/>
                </a:solidFill>
                <a:latin typeface="Calibri"/>
                <a:ea typeface="Calibri"/>
              </a:rPr>
              <a:t>Sugar: &lt;25 g (added)</a:t>
            </a:r>
          </a:p>
        </p:txBody>
      </p:sp>
      <p:sp>
        <p:nvSpPr>
          <p:cNvPr id="100136" name="Hydration"/>
          <p:cNvSpPr txBox="1"/>
          <p:nvPr/>
        </p:nvSpPr>
        <p:spPr>
          <a:xfrm xmlns:a="http://schemas.openxmlformats.org/drawingml/2006/main">
            <a:off x="720000" y="5220000"/>
            <a:ext cx="10440000" cy="432000"/>
          </a:xfrm>
          <a:prstGeom xmlns:a="http://schemas.openxmlformats.org/drawingml/2006/main" prst="rect">
            <a:avLst/>
          </a:prstGeom>
          <a:solidFill xmlns:a="http://schemas.openxmlformats.org/drawingml/2006/main">
            <a:srgbClr val="E8F0FE"/>
          </a:solidFill>
        </p:spPr>
        <p:txBody>
          <a:bodyPr xmlns:a="http://schemas.openxmlformats.org/drawingml/2006/main"/>
          <a:lstStyle xmlns:a="http://schemas.openxmlformats.org/drawingml/2006/main"/>
          <a:p xmlns:a="http://schemas.openxmlformats.org/drawingml/2006/main">
            <a:r>
              <a:rPr lang="en-US" sz="1400" b="0">
                <a:solidFill>
                  <a:srgbClr val="0F62FE"/>
                </a:solidFill>
                <a:latin typeface="Calibri"/>
                <a:ea typeface="Calibri"/>
              </a:rPr>
              <a:t>Hydration: 8-10 glasses/day | Avoid sugary drinks | Limit caffeine | 30 min exercise daily | Sleep 7-8 hrs | Mindful eating</a:t>
            </a:r>
          </a:p>
        </p:txBody>
      </p:sp>
      <p:sp>
        <p:nvSpPr>
          <p:cNvPr id="100137" name="FilePath"/>
          <p:cNvSpPr txBox="1"/>
          <p:nvPr/>
        </p:nvSpPr>
        <p:spPr>
          <a:xfrm xmlns:a="http://schemas.openxmlformats.org/drawingml/2006/main">
            <a:off x="720000" y="5760000"/>
            <a:ext cx="10440000" cy="324000"/>
          </a:xfrm>
          <a:prstGeom xmlns:a="http://schemas.openxmlformats.org/drawingml/2006/main" prst="rect">
            <a:avLst/>
          </a:prstGeom>
          <a:solidFill xmlns:a="http://schemas.openxmlformats.org/drawingml/2006/main">
            <a:srgbClr val="F0FFF4"/>
          </a:solidFill>
        </p:spPr>
        <p:txBody>
          <a:bodyPr xmlns:a="http://schemas.openxmlformats.org/drawingml/2006/main"/>
          <a:lstStyle xmlns:a="http://schemas.openxmlformats.org/drawingml/2006/main"/>
          <a:p xmlns:a="http://schemas.openxmlformats.org/drawingml/2006/main">
            <a:r>
              <a:rPr lang="en-US" sz="1300" b="0">
                <a:solidFill>
                  <a:srgbClr val="065F46"/>
                </a:solidFill>
                <a:latin typeface="Calibri"/>
                <a:ea typeface="Calibri"/>
              </a:rPr>
              <a:t>Saved as: nutrition_ai/plans/nutrition_plan_priya_sharma_20261011_130837.md  (YAML front-matter + full plan + disclaimer)</a:t>
            </a:r>
          </a:p>
        </p:txBody>
      </p:sp>
      <p:sp>
        <p:nvSpPr>
          <p:cNvPr id="100138"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r>
              <a:rPr lang="en-US" sz="1200" b="0">
                <a:solidFill>
                  <a:srgbClr val="FFFFFF"/>
                </a:solidFill>
              </a:rPr>
              <a:t>NutriBot — IBM Granite Nutrition Agentic AI  |  Slide 13</a:t>
            </a:r>
          </a:p>
        </p:txBody>
      </p:sp>
    </p:spTree>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39"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140"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D1B2A"/>
                </a:solidFill>
                <a:latin typeface="Calibri"/>
                <a:ea typeface="Calibri"/>
              </a:rPr>
              <a:t>Sample Plan — Ravi Kumar  (From .md File)</a:t>
            </a:r>
          </a:p>
        </p:txBody>
      </p:sp>
      <p:sp>
        <p:nvSpPr>
          <p:cNvPr id="100141"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endParaRPr lang="en-US" sz="800">
              <a:solidFill>
                <a:srgbClr val="DA1E28"/>
              </a:solidFill>
            </a:endParaRPr>
          </a:p>
        </p:txBody>
      </p:sp>
      <p:sp>
        <p:nvSpPr>
          <p:cNvPr id="100142" name="ProfileBadge"/>
          <p:cNvSpPr txBox="1"/>
          <p:nvPr/>
        </p:nvSpPr>
        <p:spPr>
          <a:xfrm xmlns:a="http://schemas.openxmlformats.org/drawingml/2006/main">
            <a:off x="720000" y="1188000"/>
            <a:ext cx="10440000" cy="432000"/>
          </a:xfrm>
          <a:prstGeom xmlns:a="http://schemas.openxmlformats.org/drawingml/2006/main" prst="rect">
            <a:avLst/>
          </a:prstGeom>
          <a:solidFill xmlns:a="http://schemas.openxmlformats.org/drawingml/2006/main">
            <a:srgbClr val="FEE2E2"/>
          </a:solidFill>
        </p:spPr>
        <p:txBody>
          <a:bodyPr xmlns:a="http://schemas.openxmlformats.org/drawingml/2006/main"/>
          <a:lstStyle xmlns:a="http://schemas.openxmlformats.org/drawingml/2006/main"/>
          <a:p xmlns:a="http://schemas.openxmlformats.org/drawingml/2006/main">
            <a:r>
              <a:rPr lang="en-US" sz="1600" b="0">
                <a:solidFill>
                  <a:srgbClr val="7F1D1D"/>
                </a:solidFill>
                <a:latin typeface="Calibri"/>
                <a:ea typeface="Calibri"/>
              </a:rPr>
              <a:t>Name: Ravi Kumar  |  Age: 45  |  Diet: Non-Vegetarian  |  Condition: Hypertension  |  Location: Bangalore, India  |  Goal: Heart Health</a:t>
            </a:r>
          </a:p>
        </p:txBody>
      </p:sp>
      <p:sp>
        <p:nvSpPr>
          <p:cNvPr id="100143" name="B2"/>
          <p:cNvSpPr txBox="1"/>
          <p:nvPr/>
        </p:nvSpPr>
        <p:spPr>
          <a:xfrm xmlns:a="http://schemas.openxmlformats.org/drawingml/2006/main">
            <a:off x="720000" y="1800000"/>
            <a:ext cx="3240000" cy="1440000"/>
          </a:xfrm>
          <a:prstGeom xmlns:a="http://schemas.openxmlformats.org/drawingml/2006/main" prst="rect">
            <a:avLst/>
          </a:prstGeom>
          <a:solidFill xmlns:a="http://schemas.openxmlformats.org/drawingml/2006/main">
            <a:srgbClr val="FEF3C7"/>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BREAKFAST</a:t>
            </a:r>
          </a:p>
          <a:p xmlns:a="http://schemas.openxmlformats.org/drawingml/2006/main">
            <a:r>
              <a:rPr lang="en-US" sz="1400" b="0">
                <a:solidFill>
                  <a:srgbClr val="333333"/>
                </a:solidFill>
                <a:latin typeface="Calibri"/>
                <a:ea typeface="Calibri"/>
              </a:rPr>
              <a:t>Oatmeal with berries &amp; chia seeds</a:t>
            </a:r>
          </a:p>
          <a:p xmlns:a="http://schemas.openxmlformats.org/drawingml/2006/main">
            <a:r>
              <a:rPr lang="en-US" sz="1400" b="0">
                <a:solidFill>
                  <a:srgbClr val="333333"/>
                </a:solidFill>
                <a:latin typeface="Calibri"/>
                <a:ea typeface="Calibri"/>
              </a:rPr>
              <a:t>Warm lemon water</a:t>
            </a:r>
          </a:p>
          <a:p xmlns:a="http://schemas.openxmlformats.org/drawingml/2006/main">
            <a:r>
              <a:rPr lang="en-US" sz="1400" b="0">
                <a:solidFill>
                  <a:srgbClr val="333333"/>
                </a:solidFill>
                <a:latin typeface="Calibri"/>
                <a:ea typeface="Calibri"/>
              </a:rPr>
              <a:t>1 serving chicken breast</a:t>
            </a:r>
          </a:p>
          <a:p xmlns:a="http://schemas.openxmlformats.org/drawingml/2006/main">
            <a:r>
              <a:rPr lang="en-US" sz="1400" b="0">
                <a:solidFill>
                  <a:srgbClr val="333333"/>
                </a:solidFill>
                <a:latin typeface="Calibri"/>
                <a:ea typeface="Calibri"/>
              </a:rPr>
              <a:t>(low-sodium preparation)</a:t>
            </a:r>
          </a:p>
        </p:txBody>
      </p:sp>
      <p:sp>
        <p:nvSpPr>
          <p:cNvPr id="100144" name="S2b"/>
          <p:cNvSpPr txBox="1"/>
          <p:nvPr/>
        </p:nvSpPr>
        <p:spPr>
          <a:xfrm xmlns:a="http://schemas.openxmlformats.org/drawingml/2006/main">
            <a:off x="4500000" y="1800000"/>
            <a:ext cx="3240000" cy="1440000"/>
          </a:xfrm>
          <a:prstGeom xmlns:a="http://schemas.openxmlformats.org/drawingml/2006/main" prst="rect">
            <a:avLst/>
          </a:prstGeom>
          <a:solidFill xmlns:a="http://schemas.openxmlformats.org/drawingml/2006/main">
            <a:srgbClr val="E0F2FE"/>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MID-MORNING SNACK</a:t>
            </a:r>
          </a:p>
          <a:p xmlns:a="http://schemas.openxmlformats.org/drawingml/2006/main">
            <a:r>
              <a:rPr lang="en-US" sz="1400" b="0">
                <a:solidFill>
                  <a:srgbClr val="333333"/>
                </a:solidFill>
                <a:latin typeface="Calibri"/>
                <a:ea typeface="Calibri"/>
              </a:rPr>
              <a:t>Mixed nuts and seeds</a:t>
            </a:r>
          </a:p>
          <a:p xmlns:a="http://schemas.openxmlformats.org/drawingml/2006/main">
            <a:r>
              <a:rPr lang="en-US" sz="1400" b="0">
                <a:solidFill>
                  <a:srgbClr val="333333"/>
                </a:solidFill>
                <a:latin typeface="Calibri"/>
                <a:ea typeface="Calibri"/>
              </a:rPr>
              <a:t>1 medium apple or pear</a:t>
            </a:r>
          </a:p>
        </p:txBody>
      </p:sp>
      <p:sp>
        <p:nvSpPr>
          <p:cNvPr id="100145" name="L2"/>
          <p:cNvSpPr txBox="1"/>
          <p:nvPr/>
        </p:nvSpPr>
        <p:spPr>
          <a:xfrm xmlns:a="http://schemas.openxmlformats.org/drawingml/2006/main">
            <a:off x="8280000" y="1800000"/>
            <a:ext cx="3240000" cy="1440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LUNCH</a:t>
            </a:r>
          </a:p>
          <a:p xmlns:a="http://schemas.openxmlformats.org/drawingml/2006/main">
            <a:r>
              <a:rPr lang="en-US" sz="1400" b="0">
                <a:solidFill>
                  <a:srgbClr val="333333"/>
                </a:solidFill>
                <a:latin typeface="Calibri"/>
                <a:ea typeface="Calibri"/>
              </a:rPr>
              <a:t>Brown rice / quinoa</a:t>
            </a:r>
          </a:p>
          <a:p xmlns:a="http://schemas.openxmlformats.org/drawingml/2006/main">
            <a:r>
              <a:rPr lang="en-US" sz="1400" b="0">
                <a:solidFill>
                  <a:srgbClr val="333333"/>
                </a:solidFill>
                <a:latin typeface="Calibri"/>
                <a:ea typeface="Calibri"/>
              </a:rPr>
              <a:t>Mixed veg stir-fried (low-sodium)</a:t>
            </a:r>
          </a:p>
          <a:p xmlns:a="http://schemas.openxmlformats.org/drawingml/2006/main">
            <a:r>
              <a:rPr lang="en-US" sz="1400" b="0">
                <a:solidFill>
                  <a:srgbClr val="333333"/>
                </a:solidFill>
                <a:latin typeface="Calibri"/>
                <a:ea typeface="Calibri"/>
              </a:rPr>
              <a:t>Dal / lentil curry</a:t>
            </a:r>
          </a:p>
          <a:p xmlns:a="http://schemas.openxmlformats.org/drawingml/2006/main">
            <a:r>
              <a:rPr lang="en-US" sz="1400" b="0">
                <a:solidFill>
                  <a:srgbClr val="333333"/>
                </a:solidFill>
                <a:latin typeface="Calibri"/>
                <a:ea typeface="Calibri"/>
              </a:rPr>
              <a:t>Salad with olive oil dressing</a:t>
            </a:r>
          </a:p>
        </p:txBody>
      </p:sp>
      <p:sp>
        <p:nvSpPr>
          <p:cNvPr id="100146" name="S2c"/>
          <p:cNvSpPr txBox="1"/>
          <p:nvPr/>
        </p:nvSpPr>
        <p:spPr>
          <a:xfrm xmlns:a="http://schemas.openxmlformats.org/drawingml/2006/main">
            <a:off x="720000" y="3600000"/>
            <a:ext cx="3240000" cy="1260000"/>
          </a:xfrm>
          <a:prstGeom xmlns:a="http://schemas.openxmlformats.org/drawingml/2006/main" prst="rect">
            <a:avLst/>
          </a:prstGeom>
          <a:solidFill xmlns:a="http://schemas.openxmlformats.org/drawingml/2006/main">
            <a:srgbClr val="FCE7F3"/>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AFTERNOON SNACK</a:t>
            </a:r>
          </a:p>
          <a:p xmlns:a="http://schemas.openxmlformats.org/drawingml/2006/main">
            <a:r>
              <a:rPr lang="en-US" sz="1400" b="0">
                <a:solidFill>
                  <a:srgbClr val="333333"/>
                </a:solidFill>
                <a:latin typeface="Calibri"/>
                <a:ea typeface="Calibri"/>
              </a:rPr>
              <a:t>Low-fat yogurt / buttermilk</a:t>
            </a:r>
          </a:p>
          <a:p xmlns:a="http://schemas.openxmlformats.org/drawingml/2006/main">
            <a:r>
              <a:rPr lang="en-US" sz="1400" b="0">
                <a:solidFill>
                  <a:srgbClr val="333333"/>
                </a:solidFill>
                <a:latin typeface="Calibri"/>
                <a:ea typeface="Calibri"/>
              </a:rPr>
              <a:t>Small fruit: banana / orange</a:t>
            </a:r>
          </a:p>
        </p:txBody>
      </p:sp>
      <p:sp>
        <p:nvSpPr>
          <p:cNvPr id="100147" name="D2"/>
          <p:cNvSpPr txBox="1"/>
          <p:nvPr/>
        </p:nvSpPr>
        <p:spPr>
          <a:xfrm xmlns:a="http://schemas.openxmlformats.org/drawingml/2006/main">
            <a:off x="4500000" y="3600000"/>
            <a:ext cx="3240000" cy="1260000"/>
          </a:xfrm>
          <a:prstGeom xmlns:a="http://schemas.openxmlformats.org/drawingml/2006/main" prst="rect">
            <a:avLst/>
          </a:prstGeom>
          <a:solidFill xmlns:a="http://schemas.openxmlformats.org/drawingml/2006/main">
            <a:srgbClr val="EDE9FE"/>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DINNER</a:t>
            </a:r>
          </a:p>
          <a:p xmlns:a="http://schemas.openxmlformats.org/drawingml/2006/main">
            <a:r>
              <a:rPr lang="en-US" sz="1400" b="0">
                <a:solidFill>
                  <a:srgbClr val="333333"/>
                </a:solidFill>
                <a:latin typeface="Calibri"/>
                <a:ea typeface="Calibri"/>
              </a:rPr>
              <a:t>Brown rice (low-sodium)</a:t>
            </a:r>
          </a:p>
          <a:p xmlns:a="http://schemas.openxmlformats.org/drawingml/2006/main">
            <a:r>
              <a:rPr lang="en-US" sz="1400" b="0">
                <a:solidFill>
                  <a:srgbClr val="333333"/>
                </a:solidFill>
                <a:latin typeface="Calibri"/>
                <a:ea typeface="Calibri"/>
              </a:rPr>
              <a:t>Grilled fish / lean chicken</a:t>
            </a:r>
          </a:p>
          <a:p xmlns:a="http://schemas.openxmlformats.org/drawingml/2006/main">
            <a:r>
              <a:rPr lang="en-US" sz="1400" b="0">
                <a:solidFill>
                  <a:srgbClr val="333333"/>
                </a:solidFill>
                <a:latin typeface="Calibri"/>
                <a:ea typeface="Calibri"/>
              </a:rPr>
              <a:t>Steamed broccoli / spinach</a:t>
            </a:r>
          </a:p>
          <a:p xmlns:a="http://schemas.openxmlformats.org/drawingml/2006/main">
            <a:r>
              <a:rPr lang="en-US" sz="1400" b="0">
                <a:solidFill>
                  <a:srgbClr val="333333"/>
                </a:solidFill>
                <a:latin typeface="Calibri"/>
                <a:ea typeface="Calibri"/>
              </a:rPr>
              <a:t>Herbal tea (limit caffeine)</a:t>
            </a:r>
          </a:p>
        </p:txBody>
      </p:sp>
      <p:sp>
        <p:nvSpPr>
          <p:cNvPr id="100148" name="T2"/>
          <p:cNvSpPr txBox="1"/>
          <p:nvPr/>
        </p:nvSpPr>
        <p:spPr>
          <a:xfrm xmlns:a="http://schemas.openxmlformats.org/drawingml/2006/main">
            <a:off x="8280000" y="3600000"/>
            <a:ext cx="3240000" cy="1260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400" b="0">
                <a:solidFill>
                  <a:srgbClr val="FFFFFF"/>
                </a:solidFill>
                <a:latin typeface="Calibri"/>
                <a:ea typeface="Calibri"/>
              </a:rPr>
              <a:t>DAILY TARGETS</a:t>
            </a:r>
          </a:p>
          <a:p xmlns:a="http://schemas.openxmlformats.org/drawingml/2006/main">
            <a:r>
              <a:rPr lang="en-US" sz="1400" b="0">
                <a:solidFill>
                  <a:srgbClr val="FFFFFF"/>
                </a:solidFill>
                <a:latin typeface="Calibri"/>
                <a:ea typeface="Calibri"/>
              </a:rPr>
              <a:t>Calories: 1,800-2,200 kcal</a:t>
            </a:r>
          </a:p>
          <a:p xmlns:a="http://schemas.openxmlformats.org/drawingml/2006/main">
            <a:r>
              <a:rPr lang="en-US" sz="1400" b="0">
                <a:solidFill>
                  <a:srgbClr val="FFFFFF"/>
                </a:solidFill>
                <a:latin typeface="Calibri"/>
                <a:ea typeface="Calibri"/>
              </a:rPr>
              <a:t>Protein: 55-70 g</a:t>
            </a:r>
          </a:p>
          <a:p xmlns:a="http://schemas.openxmlformats.org/drawingml/2006/main">
            <a:r>
              <a:rPr lang="en-US" sz="1400" b="0">
                <a:solidFill>
                  <a:srgbClr val="FFFFFF"/>
                </a:solidFill>
                <a:latin typeface="Calibri"/>
                <a:ea typeface="Calibri"/>
              </a:rPr>
              <a:t>Carbs: 200-250 g</a:t>
            </a:r>
          </a:p>
          <a:p xmlns:a="http://schemas.openxmlformats.org/drawingml/2006/main">
            <a:r>
              <a:rPr lang="en-US" sz="1400" b="0">
                <a:solidFill>
                  <a:srgbClr val="FFFFFF"/>
                </a:solidFill>
                <a:latin typeface="Calibri"/>
                <a:ea typeface="Calibri"/>
              </a:rPr>
              <a:t>Fat: 50-65 g</a:t>
            </a:r>
          </a:p>
          <a:p xmlns:a="http://schemas.openxmlformats.org/drawingml/2006/main">
            <a:r>
              <a:rPr lang="en-US" sz="1400" b="0">
                <a:solidFill>
                  <a:srgbClr val="FFFFFF"/>
                </a:solidFill>
                <a:latin typeface="Calibri"/>
                <a:ea typeface="Calibri"/>
              </a:rPr>
              <a:t>Fibre: 25-35 g</a:t>
            </a:r>
          </a:p>
          <a:p xmlns:a="http://schemas.openxmlformats.org/drawingml/2006/main">
            <a:r>
              <a:rPr lang="en-US" sz="1400" b="0">
                <a:solidFill>
                  <a:srgbClr val="FFFFFF"/>
                </a:solidFill>
                <a:latin typeface="Calibri"/>
                <a:ea typeface="Calibri"/>
              </a:rPr>
              <a:t>Sodium: &lt;1,500 mg</a:t>
            </a:r>
          </a:p>
          <a:p xmlns:a="http://schemas.openxmlformats.org/drawingml/2006/main">
            <a:r>
              <a:rPr lang="en-US" sz="1400" b="0">
                <a:solidFill>
                  <a:srgbClr val="FFFFFF"/>
                </a:solidFill>
                <a:latin typeface="Calibri"/>
                <a:ea typeface="Calibri"/>
              </a:rPr>
              <a:t>Sugar: &lt;50 g (added)</a:t>
            </a:r>
          </a:p>
        </p:txBody>
      </p:sp>
      <p:sp>
        <p:nvSpPr>
          <p:cNvPr id="100149" name="H2"/>
          <p:cNvSpPr txBox="1"/>
          <p:nvPr/>
        </p:nvSpPr>
        <p:spPr>
          <a:xfrm xmlns:a="http://schemas.openxmlformats.org/drawingml/2006/main">
            <a:off x="720000" y="5220000"/>
            <a:ext cx="10440000" cy="432000"/>
          </a:xfrm>
          <a:prstGeom xmlns:a="http://schemas.openxmlformats.org/drawingml/2006/main" prst="rect">
            <a:avLst/>
          </a:prstGeom>
          <a:solidFill xmlns:a="http://schemas.openxmlformats.org/drawingml/2006/main">
            <a:srgbClr val="FEE2E2"/>
          </a:solidFill>
        </p:spPr>
        <p:txBody>
          <a:bodyPr xmlns:a="http://schemas.openxmlformats.org/drawingml/2006/main"/>
          <a:lstStyle xmlns:a="http://schemas.openxmlformats.org/drawingml/2006/main"/>
          <a:p xmlns:a="http://schemas.openxmlformats.org/drawingml/2006/main">
            <a:r>
              <a:rPr lang="en-US" sz="1400" b="0">
                <a:solidFill>
                  <a:srgbClr val="7F1D1D"/>
                </a:solidFill>
                <a:latin typeface="Calibri"/>
                <a:ea typeface="Calibri"/>
              </a:rPr>
              <a:t>DASH Diet Principles Applied: Low sodium | Potassium-rich foods (banana, sweet potato, spinach) | Limit saturated fat | No alcohol</a:t>
            </a:r>
          </a:p>
        </p:txBody>
      </p:sp>
      <p:sp>
        <p:nvSpPr>
          <p:cNvPr id="100150" name="FilePath2"/>
          <p:cNvSpPr txBox="1"/>
          <p:nvPr/>
        </p:nvSpPr>
        <p:spPr>
          <a:xfrm xmlns:a="http://schemas.openxmlformats.org/drawingml/2006/main">
            <a:off x="720000" y="5760000"/>
            <a:ext cx="10440000" cy="324000"/>
          </a:xfrm>
          <a:prstGeom xmlns:a="http://schemas.openxmlformats.org/drawingml/2006/main" prst="rect">
            <a:avLst/>
          </a:prstGeom>
          <a:solidFill xmlns:a="http://schemas.openxmlformats.org/drawingml/2006/main">
            <a:srgbClr val="FEF3C7"/>
          </a:solidFill>
        </p:spPr>
        <p:txBody>
          <a:bodyPr xmlns:a="http://schemas.openxmlformats.org/drawingml/2006/main"/>
          <a:lstStyle xmlns:a="http://schemas.openxmlformats.org/drawingml/2006/main"/>
          <a:p xmlns:a="http://schemas.openxmlformats.org/drawingml/2006/main">
            <a:r>
              <a:rPr lang="en-US" sz="1300" b="0">
                <a:solidFill>
                  <a:srgbClr val="92400E"/>
                </a:solidFill>
                <a:latin typeface="Calibri"/>
                <a:ea typeface="Calibri"/>
              </a:rPr>
              <a:t>Saved as: nutrition_ai/plans/nutrition_plan_ravi_kumar_20261011_132204.md  (YAML front-matter + full plan + disclaimer)</a:t>
            </a:r>
          </a:p>
        </p:txBody>
      </p:sp>
      <p:sp>
        <p:nvSpPr>
          <p:cNvPr id="100151"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r>
              <a:rPr lang="en-US" sz="1200" b="0">
                <a:solidFill>
                  <a:srgbClr val="FFFFFF"/>
                </a:solidFill>
              </a:rPr>
              <a:t>NutriBot — IBM Granite Nutrition Agentic AI  |  Slide 14</a:t>
            </a:r>
          </a:p>
        </p:txBody>
      </p:sp>
    </p:spTree>
  </p:cSld>
</p:sld>
</file>

<file path=ppt/slides/slide15.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152"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153"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FFFFFF"/>
                </a:solidFill>
                <a:latin typeface="Calibri"/>
                <a:ea typeface="Calibri"/>
              </a:rPr>
              <a:t>Nutritional Targets Table</a:t>
            </a:r>
          </a:p>
        </p:txBody>
      </p:sp>
      <p:sp>
        <p:nvSpPr>
          <p:cNvPr id="100154"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82CFFF"/>
          </a:solidFill>
        </p:spPr>
        <p:txBody>
          <a:bodyPr xmlns:a="http://schemas.openxmlformats.org/drawingml/2006/main"/>
          <a:lstStyle xmlns:a="http://schemas.openxmlformats.org/drawingml/2006/main"/>
          <a:p xmlns:a="http://schemas.openxmlformats.org/drawingml/2006/main">
            <a:endParaRPr lang="en-US" sz="800">
              <a:solidFill>
                <a:srgbClr val="82CFFF"/>
              </a:solidFill>
            </a:endParaRPr>
          </a:p>
        </p:txBody>
      </p:sp>
      <p:sp>
        <p:nvSpPr>
          <p:cNvPr id="100155" name="TableHeader"/>
          <p:cNvSpPr txBox="1"/>
          <p:nvPr/>
        </p:nvSpPr>
        <p:spPr>
          <a:xfrm xmlns:a="http://schemas.openxmlformats.org/drawingml/2006/main">
            <a:off x="720000" y="1260000"/>
            <a:ext cx="10440000" cy="39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700" b="1">
                <a:solidFill>
                  <a:srgbClr val="FFFFFF"/>
                </a:solidFill>
                <a:latin typeface="Calibri"/>
                <a:ea typeface="Calibri"/>
              </a:rPr>
              <a:t>Nutrient           General Adult     Diabetes Plan       Hypertension Plan</a:t>
            </a:r>
          </a:p>
        </p:txBody>
      </p:sp>
      <p:sp>
        <p:nvSpPr>
          <p:cNvPr id="100156" name="Row1"/>
          <p:cNvSpPr txBox="1"/>
          <p:nvPr/>
        </p:nvSpPr>
        <p:spPr>
          <a:xfrm xmlns:a="http://schemas.openxmlformats.org/drawingml/2006/main">
            <a:off x="720000" y="1692000"/>
            <a:ext cx="10440000" cy="360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600" b="0">
                <a:solidFill>
                  <a:srgbClr val="E5E7EB"/>
                </a:solidFill>
                <a:latin typeface="Calibri"/>
                <a:ea typeface="Calibri"/>
              </a:rPr>
              <a:t>Calories           1,800-2,200 kcal  1,800-2,200 kcal    1,800-2,200 kcal</a:t>
            </a:r>
          </a:p>
        </p:txBody>
      </p:sp>
      <p:sp>
        <p:nvSpPr>
          <p:cNvPr id="100157" name="Row2"/>
          <p:cNvSpPr txBox="1"/>
          <p:nvPr/>
        </p:nvSpPr>
        <p:spPr>
          <a:xfrm xmlns:a="http://schemas.openxmlformats.org/drawingml/2006/main">
            <a:off x="720000" y="2088000"/>
            <a:ext cx="10440000" cy="360000"/>
          </a:xfrm>
          <a:prstGeom xmlns:a="http://schemas.openxmlformats.org/drawingml/2006/main" prst="rect">
            <a:avLst/>
          </a:prstGeom>
          <a:solidFill xmlns:a="http://schemas.openxmlformats.org/drawingml/2006/main">
            <a:srgbClr val="152440"/>
          </a:solidFill>
        </p:spPr>
        <p:txBody>
          <a:bodyPr xmlns:a="http://schemas.openxmlformats.org/drawingml/2006/main"/>
          <a:lstStyle xmlns:a="http://schemas.openxmlformats.org/drawingml/2006/main"/>
          <a:p xmlns:a="http://schemas.openxmlformats.org/drawingml/2006/main">
            <a:r>
              <a:rPr lang="en-US" sz="1600" b="0">
                <a:solidFill>
                  <a:srgbClr val="E5E7EB"/>
                </a:solidFill>
                <a:latin typeface="Calibri"/>
                <a:ea typeface="Calibri"/>
              </a:rPr>
              <a:t>Protein            55-70 g           55-70 g             55-70 g</a:t>
            </a:r>
          </a:p>
        </p:txBody>
      </p:sp>
      <p:sp>
        <p:nvSpPr>
          <p:cNvPr id="100158" name="Row3"/>
          <p:cNvSpPr txBox="1"/>
          <p:nvPr/>
        </p:nvSpPr>
        <p:spPr>
          <a:xfrm xmlns:a="http://schemas.openxmlformats.org/drawingml/2006/main">
            <a:off x="720000" y="2484000"/>
            <a:ext cx="10440000" cy="360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600" b="0">
                <a:solidFill>
                  <a:srgbClr val="E5E7EB"/>
                </a:solidFill>
                <a:latin typeface="Calibri"/>
                <a:ea typeface="Calibri"/>
              </a:rPr>
              <a:t>Carbohydrates      200-250 g         200-250 g (low-GI)  200-250 g</a:t>
            </a:r>
          </a:p>
        </p:txBody>
      </p:sp>
      <p:sp>
        <p:nvSpPr>
          <p:cNvPr id="100159" name="Row4"/>
          <p:cNvSpPr txBox="1"/>
          <p:nvPr/>
        </p:nvSpPr>
        <p:spPr>
          <a:xfrm xmlns:a="http://schemas.openxmlformats.org/drawingml/2006/main">
            <a:off x="720000" y="2880000"/>
            <a:ext cx="10440000" cy="360000"/>
          </a:xfrm>
          <a:prstGeom xmlns:a="http://schemas.openxmlformats.org/drawingml/2006/main" prst="rect">
            <a:avLst/>
          </a:prstGeom>
          <a:solidFill xmlns:a="http://schemas.openxmlformats.org/drawingml/2006/main">
            <a:srgbClr val="152440"/>
          </a:solidFill>
        </p:spPr>
        <p:txBody>
          <a:bodyPr xmlns:a="http://schemas.openxmlformats.org/drawingml/2006/main"/>
          <a:lstStyle xmlns:a="http://schemas.openxmlformats.org/drawingml/2006/main"/>
          <a:p xmlns:a="http://schemas.openxmlformats.org/drawingml/2006/main">
            <a:r>
              <a:rPr lang="en-US" sz="1600" b="0">
                <a:solidFill>
                  <a:srgbClr val="E5E7EB"/>
                </a:solidFill>
                <a:latin typeface="Calibri"/>
                <a:ea typeface="Calibri"/>
              </a:rPr>
              <a:t>Fat                50-65 g           50-65 g             50-65 g (unsaturated)</a:t>
            </a:r>
          </a:p>
        </p:txBody>
      </p:sp>
      <p:sp>
        <p:nvSpPr>
          <p:cNvPr id="100160" name="Row5"/>
          <p:cNvSpPr txBox="1"/>
          <p:nvPr/>
        </p:nvSpPr>
        <p:spPr>
          <a:xfrm xmlns:a="http://schemas.openxmlformats.org/drawingml/2006/main">
            <a:off x="720000" y="3276000"/>
            <a:ext cx="10440000" cy="360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600" b="0">
                <a:solidFill>
                  <a:srgbClr val="E5E7EB"/>
                </a:solidFill>
                <a:latin typeface="Calibri"/>
                <a:ea typeface="Calibri"/>
              </a:rPr>
              <a:t>Fibre              25-35 g           25-35 g (high)      25-35 g</a:t>
            </a:r>
          </a:p>
        </p:txBody>
      </p:sp>
      <p:sp>
        <p:nvSpPr>
          <p:cNvPr id="100161" name="Row6"/>
          <p:cNvSpPr txBox="1"/>
          <p:nvPr/>
        </p:nvSpPr>
        <p:spPr>
          <a:xfrm xmlns:a="http://schemas.openxmlformats.org/drawingml/2006/main">
            <a:off x="720000" y="3672000"/>
            <a:ext cx="10440000" cy="360000"/>
          </a:xfrm>
          <a:prstGeom xmlns:a="http://schemas.openxmlformats.org/drawingml/2006/main" prst="rect">
            <a:avLst/>
          </a:prstGeom>
          <a:solidFill xmlns:a="http://schemas.openxmlformats.org/drawingml/2006/main">
            <a:srgbClr val="152440"/>
          </a:solidFill>
        </p:spPr>
        <p:txBody>
          <a:bodyPr xmlns:a="http://schemas.openxmlformats.org/drawingml/2006/main"/>
          <a:lstStyle xmlns:a="http://schemas.openxmlformats.org/drawingml/2006/main"/>
          <a:p xmlns:a="http://schemas.openxmlformats.org/drawingml/2006/main">
            <a:r>
              <a:rPr lang="en-US" sz="1600" b="0">
                <a:solidFill>
                  <a:srgbClr val="FFB3B3"/>
                </a:solidFill>
                <a:latin typeface="Calibri"/>
                <a:ea typeface="Calibri"/>
              </a:rPr>
              <a:t>Sodium             &lt; 2,300 mg        &lt; 1,500 mg          &lt; 1,500 mg (critical)</a:t>
            </a:r>
          </a:p>
        </p:txBody>
      </p:sp>
      <p:sp>
        <p:nvSpPr>
          <p:cNvPr id="100162" name="Row7"/>
          <p:cNvSpPr txBox="1"/>
          <p:nvPr/>
        </p:nvSpPr>
        <p:spPr>
          <a:xfrm xmlns:a="http://schemas.openxmlformats.org/drawingml/2006/main">
            <a:off x="720000" y="4068000"/>
            <a:ext cx="10440000" cy="360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600" b="0">
                <a:solidFill>
                  <a:srgbClr val="FFB3B3"/>
                </a:solidFill>
                <a:latin typeface="Calibri"/>
                <a:ea typeface="Calibri"/>
              </a:rPr>
              <a:t>Added Sugar        &lt; 50 g            &lt; 25 g (strict)     &lt; 50 g</a:t>
            </a:r>
          </a:p>
        </p:txBody>
      </p:sp>
      <p:sp>
        <p:nvSpPr>
          <p:cNvPr id="100163" name="Row8"/>
          <p:cNvSpPr txBox="1"/>
          <p:nvPr/>
        </p:nvSpPr>
        <p:spPr>
          <a:xfrm xmlns:a="http://schemas.openxmlformats.org/drawingml/2006/main">
            <a:off x="720000" y="4464000"/>
            <a:ext cx="10440000" cy="360000"/>
          </a:xfrm>
          <a:prstGeom xmlns:a="http://schemas.openxmlformats.org/drawingml/2006/main" prst="rect">
            <a:avLst/>
          </a:prstGeom>
          <a:solidFill xmlns:a="http://schemas.openxmlformats.org/drawingml/2006/main">
            <a:srgbClr val="152440"/>
          </a:solidFill>
        </p:spPr>
        <p:txBody>
          <a:bodyPr xmlns:a="http://schemas.openxmlformats.org/drawingml/2006/main"/>
          <a:lstStyle xmlns:a="http://schemas.openxmlformats.org/drawingml/2006/main"/>
          <a:p xmlns:a="http://schemas.openxmlformats.org/drawingml/2006/main">
            <a:r>
              <a:rPr lang="en-US" sz="1600" b="0">
                <a:solidFill>
                  <a:srgbClr val="82CFFF"/>
                </a:solidFill>
                <a:latin typeface="Calibri"/>
                <a:ea typeface="Calibri"/>
              </a:rPr>
              <a:t>Water              8-10 glasses/day  8-10 glasses/day    8-10 glasses/day</a:t>
            </a:r>
          </a:p>
        </p:txBody>
      </p:sp>
      <p:sp>
        <p:nvSpPr>
          <p:cNvPr id="100164" name="Note"/>
          <p:cNvSpPr txBox="1"/>
          <p:nvPr/>
        </p:nvSpPr>
        <p:spPr>
          <a:xfrm xmlns:a="http://schemas.openxmlformats.org/drawingml/2006/main">
            <a:off x="720000" y="5112000"/>
            <a:ext cx="10440000" cy="540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r>
              <a:rPr lang="en-US" sz="1600" b="0">
                <a:solidFill>
                  <a:srgbClr val="A8B8C8"/>
                </a:solidFill>
                <a:latin typeface="Calibri"/>
                <a:ea typeface="Calibri"/>
              </a:rPr>
              <a:t>Targets are dynamically adjusted per user profile. IBM Granite generates condition-specific guidance embedded in the meal plan automatically.</a:t>
            </a:r>
          </a:p>
        </p:txBody>
      </p:sp>
      <p:sp>
        <p:nvSpPr>
          <p:cNvPr id="100165"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b="0">
                <a:solidFill>
                  <a:srgbClr val="FFFFFF"/>
                </a:solidFill>
              </a:rPr>
              <a:t>NutriBot — IBM Granite Nutrition Agentic AI  |  Slide 15</a:t>
            </a:r>
          </a:p>
        </p:txBody>
      </p:sp>
    </p:spTree>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66"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167"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D1B2A"/>
                </a:solidFill>
                <a:latin typeface="Calibri"/>
                <a:ea typeface="Calibri"/>
              </a:rPr>
              <a:t>Saved Plans &amp; Markdown File Format</a:t>
            </a:r>
          </a:p>
        </p:txBody>
      </p:sp>
      <p:sp>
        <p:nvSpPr>
          <p:cNvPr id="100168"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endParaRPr lang="en-US" sz="800">
              <a:solidFill>
                <a:srgbClr val="198038"/>
              </a:solidFill>
            </a:endParaRPr>
          </a:p>
        </p:txBody>
      </p:sp>
      <p:sp>
        <p:nvSpPr>
          <p:cNvPr id="100169" name="MDTitle"/>
          <p:cNvSpPr txBox="1"/>
          <p:nvPr/>
        </p:nvSpPr>
        <p:spPr>
          <a:xfrm xmlns:a="http://schemas.openxmlformats.org/drawingml/2006/main">
            <a:off x="720000" y="1224000"/>
            <a:ext cx="576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1">
                <a:solidFill>
                  <a:srgbClr val="198038"/>
                </a:solidFill>
                <a:latin typeface="Calibri"/>
                <a:ea typeface="Calibri"/>
              </a:rPr>
              <a:t>Markdown File Structure (.md)</a:t>
            </a:r>
          </a:p>
        </p:txBody>
      </p:sp>
      <p:sp>
        <p:nvSpPr>
          <p:cNvPr id="100170" name="MDContent"/>
          <p:cNvSpPr txBox="1"/>
          <p:nvPr/>
        </p:nvSpPr>
        <p:spPr>
          <a:xfrm xmlns:a="http://schemas.openxmlformats.org/drawingml/2006/main">
            <a:off x="720000" y="1620000"/>
            <a:ext cx="5760000" cy="3780000"/>
          </a:xfrm>
          <a:prstGeom xmlns:a="http://schemas.openxmlformats.org/drawingml/2006/main" prst="rect">
            <a:avLst/>
          </a:prstGeom>
          <a:solidFill xmlns:a="http://schemas.openxmlformats.org/drawingml/2006/main">
            <a:srgbClr val="F0FFF4"/>
          </a:solidFill>
        </p:spPr>
        <p:txBody>
          <a:bodyPr xmlns:a="http://schemas.openxmlformats.org/drawingml/2006/main"/>
          <a:lstStyle xmlns:a="http://schemas.openxmlformats.org/drawingml/2006/main"/>
          <a:p xmlns:a="http://schemas.openxmlformats.org/drawingml/2006/main">
            <a:r>
              <a:rPr lang="en-US" sz="1300" b="0">
                <a:solidFill>
                  <a:srgbClr val="065F46"/>
                </a:solidFill>
                <a:latin typeface="Calibri"/>
                <a:ea typeface="Calibri"/>
              </a:rPr>
              <a:t>---</a:t>
            </a:r>
          </a:p>
          <a:p xmlns:a="http://schemas.openxmlformats.org/drawingml/2006/main">
            <a:r>
              <a:rPr lang="en-US" sz="1300" b="0">
                <a:solidFill>
                  <a:srgbClr val="065F46"/>
                </a:solidFill>
                <a:latin typeface="Calibri"/>
                <a:ea typeface="Calibri"/>
              </a:rPr>
              <a:t>title: Personalized Nutrition Plan</a:t>
            </a:r>
          </a:p>
          <a:p xmlns:a="http://schemas.openxmlformats.org/drawingml/2006/main">
            <a:r>
              <a:rPr lang="en-US" sz="1300" b="0">
                <a:solidFill>
                  <a:srgbClr val="065F46"/>
                </a:solidFill>
                <a:latin typeface="Calibri"/>
                <a:ea typeface="Calibri"/>
              </a:rPr>
              <a:t>generated_by: IBM Granite Nutrition AI</a:t>
            </a:r>
          </a:p>
          <a:p xmlns:a="http://schemas.openxmlformats.org/drawingml/2006/main">
            <a:r>
              <a:rPr lang="en-US" sz="1300" b="0">
                <a:solidFill>
                  <a:srgbClr val="065F46"/>
                </a:solidFill>
                <a:latin typeface="Calibri"/>
                <a:ea typeface="Calibri"/>
              </a:rPr>
              <a:t>generated_at: 2026-10-11 13:08:37</a:t>
            </a:r>
          </a:p>
          <a:p xmlns:a="http://schemas.openxmlformats.org/drawingml/2006/main">
            <a:r>
              <a:rPr lang="en-US" sz="1300" b="0">
                <a:solidFill>
                  <a:srgbClr val="065F46"/>
                </a:solidFill>
                <a:latin typeface="Calibri"/>
                <a:ea typeface="Calibri"/>
              </a:rPr>
              <a:t>user_name: Priya Sharma</a:t>
            </a:r>
          </a:p>
          <a:p xmlns:a="http://schemas.openxmlformats.org/drawingml/2006/main">
            <a:r>
              <a:rPr lang="en-US" sz="1300" b="0">
                <a:solidFill>
                  <a:srgbClr val="065F46"/>
                </a:solidFill>
                <a:latin typeface="Calibri"/>
                <a:ea typeface="Calibri"/>
              </a:rPr>
              <a:t>age: 32</a:t>
            </a:r>
          </a:p>
          <a:p xmlns:a="http://schemas.openxmlformats.org/drawingml/2006/main">
            <a:r>
              <a:rPr lang="en-US" sz="1300" b="0">
                <a:solidFill>
                  <a:srgbClr val="065F46"/>
                </a:solidFill>
                <a:latin typeface="Calibri"/>
                <a:ea typeface="Calibri"/>
              </a:rPr>
              <a:t>diet_preference: vegetarian</a:t>
            </a:r>
          </a:p>
          <a:p xmlns:a="http://schemas.openxmlformats.org/drawingml/2006/main">
            <a:r>
              <a:rPr lang="en-US" sz="1300" b="0">
                <a:solidFill>
                  <a:srgbClr val="065F46"/>
                </a:solidFill>
                <a:latin typeface="Calibri"/>
                <a:ea typeface="Calibri"/>
              </a:rPr>
              <a:t>medical_history: Type 2 Diabetes</a:t>
            </a:r>
          </a:p>
          <a:p xmlns:a="http://schemas.openxmlformats.org/drawingml/2006/main">
            <a:r>
              <a:rPr lang="en-US" sz="1300" b="0">
                <a:solidFill>
                  <a:srgbClr val="065F46"/>
                </a:solidFill>
                <a:latin typeface="Calibri"/>
                <a:ea typeface="Calibri"/>
              </a:rPr>
              <a:t>location: Mumbai, India</a:t>
            </a:r>
          </a:p>
          <a:p xmlns:a="http://schemas.openxmlformats.org/drawingml/2006/main">
            <a:r>
              <a:rPr lang="en-US" sz="1300" b="0">
                <a:solidFill>
                  <a:srgbClr val="065F46"/>
                </a:solidFill>
                <a:latin typeface="Calibri"/>
                <a:ea typeface="Calibri"/>
              </a:rPr>
              <a:t>---</a:t>
            </a:r>
          </a:p>
          <a:p xmlns:a="http://schemas.openxmlformats.org/drawingml/2006/main">
            <a:r>
              <a:rPr lang="en-US" sz="1300" b="0">
                <a:solidFill>
                  <a:srgbClr val="065F46"/>
                </a:solidFill>
                <a:latin typeface="Calibri"/>
                <a:ea typeface="Calibri"/>
              </a:rPr>
              <a:t/>
            </a:r>
          </a:p>
          <a:p xmlns:a="http://schemas.openxmlformats.org/drawingml/2006/main">
            <a:r>
              <a:rPr lang="en-US" sz="1300" b="0">
                <a:solidFill>
                  <a:srgbClr val="065F46"/>
                </a:solidFill>
                <a:latin typeface="Calibri"/>
                <a:ea typeface="Calibri"/>
              </a:rPr>
              <a:t># Personalized Nutrition Plan - Priya Sharma</a:t>
            </a:r>
          </a:p>
          <a:p xmlns:a="http://schemas.openxmlformats.org/drawingml/2006/main">
            <a:r>
              <a:rPr lang="en-US" sz="1300" b="0">
                <a:solidFill>
                  <a:srgbClr val="065F46"/>
                </a:solidFill>
                <a:latin typeface="Calibri"/>
                <a:ea typeface="Calibri"/>
              </a:rPr>
              <a:t/>
            </a:r>
          </a:p>
          <a:p xmlns:a="http://schemas.openxmlformats.org/drawingml/2006/main">
            <a:r>
              <a:rPr lang="en-US" sz="1300" b="0">
                <a:solidFill>
                  <a:srgbClr val="065F46"/>
                </a:solidFill>
                <a:latin typeface="Calibri"/>
                <a:ea typeface="Calibri"/>
              </a:rPr>
              <a:t>## Breakfast</a:t>
            </a:r>
          </a:p>
          <a:p xmlns:a="http://schemas.openxmlformats.org/drawingml/2006/main">
            <a:r>
              <a:rPr lang="en-US" sz="1300" b="0">
                <a:solidFill>
                  <a:srgbClr val="065F46"/>
                </a:solidFill>
                <a:latin typeface="Calibri"/>
                <a:ea typeface="Calibri"/>
              </a:rPr>
              <a:t>- Oatmeal with berries (low-GI)</a:t>
            </a:r>
          </a:p>
          <a:p xmlns:a="http://schemas.openxmlformats.org/drawingml/2006/main">
            <a:r>
              <a:rPr lang="en-US" sz="1300" b="0">
                <a:solidFill>
                  <a:srgbClr val="065F46"/>
                </a:solidFill>
                <a:latin typeface="Calibri"/>
                <a:ea typeface="Calibri"/>
              </a:rPr>
              <a:t>- Warm lemon water</a:t>
            </a:r>
          </a:p>
          <a:p xmlns:a="http://schemas.openxmlformats.org/drawingml/2006/main">
            <a:r>
              <a:rPr lang="en-US" sz="1300" b="0">
                <a:solidFill>
                  <a:srgbClr val="065F46"/>
                </a:solidFill>
                <a:latin typeface="Calibri"/>
                <a:ea typeface="Calibri"/>
              </a:rPr>
              <a:t>...</a:t>
            </a:r>
          </a:p>
          <a:p xmlns:a="http://schemas.openxmlformats.org/drawingml/2006/main">
            <a:r>
              <a:rPr lang="en-US" sz="1300" b="0">
                <a:solidFill>
                  <a:srgbClr val="065F46"/>
                </a:solidFill>
                <a:latin typeface="Calibri"/>
                <a:ea typeface="Calibri"/>
              </a:rPr>
              <a:t/>
            </a:r>
          </a:p>
          <a:p xmlns:a="http://schemas.openxmlformats.org/drawingml/2006/main">
            <a:r>
              <a:rPr lang="en-US" sz="1300" b="0">
                <a:solidFill>
                  <a:srgbClr val="065F46"/>
                </a:solidFill>
                <a:latin typeface="Calibri"/>
                <a:ea typeface="Calibri"/>
              </a:rPr>
              <a:t>&gt; Medical Disclaimer: For informational purposes only...</a:t>
            </a:r>
          </a:p>
        </p:txBody>
      </p:sp>
      <p:sp>
        <p:nvSpPr>
          <p:cNvPr id="100171" name="PlansTitle"/>
          <p:cNvSpPr txBox="1"/>
          <p:nvPr/>
        </p:nvSpPr>
        <p:spPr>
          <a:xfrm xmlns:a="http://schemas.openxmlformats.org/drawingml/2006/main">
            <a:off x="7200000" y="1224000"/>
            <a:ext cx="432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1">
                <a:solidFill>
                  <a:srgbClr val="0F62FE"/>
                </a:solidFill>
                <a:latin typeface="Calibri"/>
                <a:ea typeface="Calibri"/>
              </a:rPr>
              <a:t>Plans History Browser (UI)</a:t>
            </a:r>
          </a:p>
        </p:txBody>
      </p:sp>
      <p:sp>
        <p:nvSpPr>
          <p:cNvPr id="100172" name="PlansUI"/>
          <p:cNvSpPr txBox="1"/>
          <p:nvPr/>
        </p:nvSpPr>
        <p:spPr>
          <a:xfrm xmlns:a="http://schemas.openxmlformats.org/drawingml/2006/main">
            <a:off x="7200000" y="1620000"/>
            <a:ext cx="4320000" cy="3780000"/>
          </a:xfrm>
          <a:prstGeom xmlns:a="http://schemas.openxmlformats.org/drawingml/2006/main" prst="rect">
            <a:avLst/>
          </a:prstGeom>
          <a:solidFill xmlns:a="http://schemas.openxmlformats.org/drawingml/2006/main">
            <a:srgbClr val="E8F0FE"/>
          </a:solidFill>
        </p:spPr>
        <p:txBody>
          <a:bodyPr xmlns:a="http://schemas.openxmlformats.org/drawingml/2006/main"/>
          <a:lstStyle xmlns:a="http://schemas.openxmlformats.org/drawingml/2006/main"/>
          <a:p xmlns:a="http://schemas.openxmlformats.org/drawingml/2006/main">
            <a:r>
              <a:rPr lang="en-US" sz="1400" b="0">
                <a:solidFill>
                  <a:srgbClr val="333333"/>
                </a:solidFill>
                <a:latin typeface="Calibri"/>
                <a:ea typeface="Calibri"/>
              </a:rPr>
              <a:t>Saved Plans List:</a:t>
            </a:r>
          </a:p>
          <a:p xmlns:a="http://schemas.openxmlformats.org/drawingml/2006/main">
            <a:r>
              <a:rPr lang="en-US" sz="1400" b="0">
                <a:solidFill>
                  <a:srgbClr val="333333"/>
                </a:solidFill>
                <a:latin typeface="Calibri"/>
                <a:ea typeface="Calibri"/>
              </a:rPr>
              <a:t/>
            </a:r>
          </a:p>
          <a:p xmlns:a="http://schemas.openxmlformats.org/drawingml/2006/main">
            <a:r>
              <a:rPr lang="en-US" sz="1400" b="0">
                <a:solidFill>
                  <a:srgbClr val="333333"/>
                </a:solidFill>
                <a:latin typeface="Calibri"/>
                <a:ea typeface="Calibri"/>
              </a:rPr>
              <a:t>[nutrition_plan_priya_sharma_20261011]</a:t>
            </a:r>
          </a:p>
          <a:p xmlns:a="http://schemas.openxmlformats.org/drawingml/2006/main">
            <a:r>
              <a:rPr lang="en-US" sz="1400" b="0">
                <a:solidFill>
                  <a:srgbClr val="333333"/>
                </a:solidFill>
                <a:latin typeface="Calibri"/>
                <a:ea typeface="Calibri"/>
              </a:rPr>
              <a:t>Age 32 | Vegetarian | Mumbai, India</a:t>
            </a:r>
          </a:p>
          <a:p xmlns:a="http://schemas.openxmlformats.org/drawingml/2006/main">
            <a:r>
              <a:rPr lang="en-US" sz="1400" b="0">
                <a:solidFill>
                  <a:srgbClr val="333333"/>
                </a:solidFill>
                <a:latin typeface="Calibri"/>
                <a:ea typeface="Calibri"/>
              </a:rPr>
              <a:t>[View Plan]</a:t>
            </a:r>
          </a:p>
          <a:p xmlns:a="http://schemas.openxmlformats.org/drawingml/2006/main">
            <a:r>
              <a:rPr lang="en-US" sz="1400" b="0">
                <a:solidFill>
                  <a:srgbClr val="333333"/>
                </a:solidFill>
                <a:latin typeface="Calibri"/>
                <a:ea typeface="Calibri"/>
              </a:rPr>
              <a:t/>
            </a:r>
          </a:p>
          <a:p xmlns:a="http://schemas.openxmlformats.org/drawingml/2006/main">
            <a:r>
              <a:rPr lang="en-US" sz="1400" b="0">
                <a:solidFill>
                  <a:srgbClr val="333333"/>
                </a:solidFill>
                <a:latin typeface="Calibri"/>
                <a:ea typeface="Calibri"/>
              </a:rPr>
              <a:t>[nutrition_plan_test_user_20261011]</a:t>
            </a:r>
          </a:p>
          <a:p xmlns:a="http://schemas.openxmlformats.org/drawingml/2006/main">
            <a:r>
              <a:rPr lang="en-US" sz="1400" b="0">
                <a:solidFill>
                  <a:srgbClr val="333333"/>
                </a:solidFill>
                <a:latin typeface="Calibri"/>
                <a:ea typeface="Calibri"/>
              </a:rPr>
              <a:t>Age 35 | Vegetarian | Delhi, India</a:t>
            </a:r>
          </a:p>
          <a:p xmlns:a="http://schemas.openxmlformats.org/drawingml/2006/main">
            <a:r>
              <a:rPr lang="en-US" sz="1400" b="0">
                <a:solidFill>
                  <a:srgbClr val="333333"/>
                </a:solidFill>
                <a:latin typeface="Calibri"/>
                <a:ea typeface="Calibri"/>
              </a:rPr>
              <a:t>[View Plan]</a:t>
            </a:r>
          </a:p>
          <a:p xmlns:a="http://schemas.openxmlformats.org/drawingml/2006/main">
            <a:r>
              <a:rPr lang="en-US" sz="1400" b="0">
                <a:solidFill>
                  <a:srgbClr val="333333"/>
                </a:solidFill>
                <a:latin typeface="Calibri"/>
                <a:ea typeface="Calibri"/>
              </a:rPr>
              <a:t/>
            </a:r>
          </a:p>
          <a:p xmlns:a="http://schemas.openxmlformats.org/drawingml/2006/main">
            <a:r>
              <a:rPr lang="en-US" sz="1400" b="0">
                <a:solidFill>
                  <a:srgbClr val="333333"/>
                </a:solidFill>
                <a:latin typeface="Calibri"/>
                <a:ea typeface="Calibri"/>
              </a:rPr>
              <a:t>[nutrition_plan_ravi_kumar_20261011]</a:t>
            </a:r>
          </a:p>
          <a:p xmlns:a="http://schemas.openxmlformats.org/drawingml/2006/main">
            <a:r>
              <a:rPr lang="en-US" sz="1400" b="0">
                <a:solidFill>
                  <a:srgbClr val="333333"/>
                </a:solidFill>
                <a:latin typeface="Calibri"/>
                <a:ea typeface="Calibri"/>
              </a:rPr>
              <a:t>Age 45 | Non-Veg | Bangalore, India</a:t>
            </a:r>
          </a:p>
          <a:p xmlns:a="http://schemas.openxmlformats.org/drawingml/2006/main">
            <a:r>
              <a:rPr lang="en-US" sz="1400" b="0">
                <a:solidFill>
                  <a:srgbClr val="333333"/>
                </a:solidFill>
                <a:latin typeface="Calibri"/>
                <a:ea typeface="Calibri"/>
              </a:rPr>
              <a:t>[View Plan]</a:t>
            </a:r>
          </a:p>
          <a:p xmlns:a="http://schemas.openxmlformats.org/drawingml/2006/main">
            <a:r>
              <a:rPr lang="en-US" sz="1400" b="0">
                <a:solidFill>
                  <a:srgbClr val="333333"/>
                </a:solidFill>
                <a:latin typeface="Calibri"/>
                <a:ea typeface="Calibri"/>
              </a:rPr>
              <a:t/>
            </a:r>
          </a:p>
          <a:p xmlns:a="http://schemas.openxmlformats.org/drawingml/2006/main">
            <a:r>
              <a:rPr lang="en-US" sz="1400" b="0">
                <a:solidFill>
                  <a:srgbClr val="333333"/>
                </a:solidFill>
                <a:latin typeface="Calibri"/>
                <a:ea typeface="Calibri"/>
              </a:rPr>
              <a:t>Files stored at:</a:t>
            </a:r>
          </a:p>
          <a:p xmlns:a="http://schemas.openxmlformats.org/drawingml/2006/main">
            <a:r>
              <a:rPr lang="en-US" sz="1400" b="0">
                <a:solidFill>
                  <a:srgbClr val="333333"/>
                </a:solidFill>
                <a:latin typeface="Calibri"/>
                <a:ea typeface="Calibri"/>
              </a:rPr>
              <a:t>nutrition_ai/plans/*.md</a:t>
            </a:r>
          </a:p>
        </p:txBody>
      </p:sp>
      <p:sp>
        <p:nvSpPr>
          <p:cNvPr id="100173" name="Features"/>
          <p:cNvSpPr txBox="1"/>
          <p:nvPr/>
        </p:nvSpPr>
        <p:spPr>
          <a:xfrm xmlns:a="http://schemas.openxmlformats.org/drawingml/2006/main">
            <a:off x="720000" y="5940000"/>
            <a:ext cx="10440000" cy="360000"/>
          </a:xfrm>
          <a:prstGeom xmlns:a="http://schemas.openxmlformats.org/drawingml/2006/main" prst="rect">
            <a:avLst/>
          </a:prstGeom>
          <a:solidFill xmlns:a="http://schemas.openxmlformats.org/drawingml/2006/main">
            <a:srgbClr val="D1FAE5"/>
          </a:solidFill>
        </p:spPr>
        <p:txBody>
          <a:bodyPr xmlns:a="http://schemas.openxmlformats.org/drawingml/2006/main"/>
          <a:lstStyle xmlns:a="http://schemas.openxmlformats.org/drawingml/2006/main"/>
          <a:p xmlns:a="http://schemas.openxmlformats.org/drawingml/2006/main">
            <a:r>
              <a:rPr lang="en-US" sz="1400" b="0">
                <a:solidFill>
                  <a:srgbClr val="065F46"/>
                </a:solidFill>
                <a:latin typeface="Calibri"/>
                <a:ea typeface="Calibri"/>
              </a:rPr>
              <a:t>Auto-saved on generation  |  YAML front-matter metadata  |  Markdown formatted content  |  Medical disclaimer included  |  Re-loadable via /api/plans/&lt;filename&gt;</a:t>
            </a:r>
          </a:p>
        </p:txBody>
      </p:sp>
      <p:sp>
        <p:nvSpPr>
          <p:cNvPr id="100174"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200" b="0">
                <a:solidFill>
                  <a:srgbClr val="A8B8C8"/>
                </a:solidFill>
              </a:rPr>
              <a:t>NutriBot — IBM Granite Nutrition Agentic AI  |  Slide 16</a:t>
            </a:r>
          </a:p>
        </p:txBody>
      </p:sp>
    </p:spTree>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75"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176"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0D1B2A"/>
                </a:solidFill>
                <a:latin typeface="Calibri"/>
                <a:ea typeface="Calibri"/>
              </a:rPr>
              <a:t>GitHub Deployment</a:t>
            </a:r>
          </a:p>
        </p:txBody>
      </p:sp>
      <p:sp>
        <p:nvSpPr>
          <p:cNvPr id="100177"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endParaRPr lang="en-US" sz="800">
              <a:solidFill>
                <a:srgbClr val="198038"/>
              </a:solidFill>
            </a:endParaRPr>
          </a:p>
        </p:txBody>
      </p:sp>
      <p:sp>
        <p:nvSpPr>
          <p:cNvPr id="100178" name="RepoURL"/>
          <p:cNvSpPr txBox="1"/>
          <p:nvPr/>
        </p:nvSpPr>
        <p:spPr>
          <a:xfrm xmlns:a="http://schemas.openxmlformats.org/drawingml/2006/main">
            <a:off x="720000" y="1224000"/>
            <a:ext cx="10440000" cy="432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r>
              <a:rPr lang="en-US" sz="2200" b="1">
                <a:solidFill>
                  <a:srgbClr val="82CFFF"/>
                </a:solidFill>
                <a:latin typeface="Calibri"/>
                <a:ea typeface="Calibri"/>
              </a:rPr>
              <a:t>https://github.com/Hiren-Modha/Nutrient-Agent</a:t>
            </a:r>
          </a:p>
        </p:txBody>
      </p:sp>
      <p:sp>
        <p:nvSpPr>
          <p:cNvPr id="100179" name="CommitInfo"/>
          <p:cNvSpPr txBox="1"/>
          <p:nvPr/>
        </p:nvSpPr>
        <p:spPr>
          <a:xfrm xmlns:a="http://schemas.openxmlformats.org/drawingml/2006/main">
            <a:off x="720000" y="1800000"/>
            <a:ext cx="5040000" cy="360000"/>
          </a:xfrm>
          <a:prstGeom xmlns:a="http://schemas.openxmlformats.org/drawingml/2006/main" prst="rect">
            <a:avLst/>
          </a:prstGeom>
          <a:solidFill xmlns:a="http://schemas.openxmlformats.org/drawingml/2006/main">
            <a:srgbClr val="E8F0FE"/>
          </a:solidFill>
        </p:spPr>
        <p:txBody>
          <a:bodyPr xmlns:a="http://schemas.openxmlformats.org/drawingml/2006/main"/>
          <a:lstStyle xmlns:a="http://schemas.openxmlformats.org/drawingml/2006/main"/>
          <a:p xmlns:a="http://schemas.openxmlformats.org/drawingml/2006/main">
            <a:r>
              <a:rPr lang="en-US" sz="1600" b="0">
                <a:solidFill>
                  <a:srgbClr val="0F62FE"/>
                </a:solidFill>
                <a:latin typeface="Calibri"/>
                <a:ea typeface="Calibri"/>
              </a:rPr>
              <a:t>Commit: adbbbf7  |  Branch: main  |  21 files  |  2,900+ lines</a:t>
            </a:r>
          </a:p>
        </p:txBody>
      </p:sp>
      <p:sp>
        <p:nvSpPr>
          <p:cNvPr id="100180" name="Files"/>
          <p:cNvSpPr txBox="1"/>
          <p:nvPr/>
        </p:nvSpPr>
        <p:spPr>
          <a:xfrm xmlns:a="http://schemas.openxmlformats.org/drawingml/2006/main">
            <a:off x="720000" y="2340000"/>
            <a:ext cx="5040000" cy="3240000"/>
          </a:xfrm>
          <a:prstGeom xmlns:a="http://schemas.openxmlformats.org/drawingml/2006/main" prst="rect">
            <a:avLst/>
          </a:prstGeom>
          <a:solidFill xmlns:a="http://schemas.openxmlformats.org/drawingml/2006/main">
            <a:srgbClr val="F9FAFB"/>
          </a:solidFill>
        </p:spPr>
        <p:txBody>
          <a:bodyPr xmlns:a="http://schemas.openxmlformats.org/drawingml/2006/main"/>
          <a:lstStyle xmlns:a="http://schemas.openxmlformats.org/drawingml/2006/main"/>
          <a:p xmlns:a="http://schemas.openxmlformats.org/drawingml/2006/main">
            <a:r>
              <a:rPr lang="en-US" sz="1600" b="0">
                <a:solidFill>
                  <a:srgbClr val="333333"/>
                </a:solidFill>
                <a:latin typeface="Calibri"/>
                <a:ea typeface="Calibri"/>
              </a:rPr>
              <a:t>Files Pushed to GitHub</a:t>
            </a:r>
          </a:p>
          <a:p xmlns:a="http://schemas.openxmlformats.org/drawingml/2006/main">
            <a:r>
              <a:rPr lang="en-US" sz="1600" b="0">
                <a:solidFill>
                  <a:srgbClr val="333333"/>
                </a:solidFill>
                <a:latin typeface="Calibri"/>
                <a:ea typeface="Calibri"/>
              </a:rPr>
              <a:t/>
            </a:r>
          </a:p>
          <a:p xmlns:a="http://schemas.openxmlformats.org/drawingml/2006/main">
            <a:r>
              <a:rPr lang="en-US" sz="1600" b="0">
                <a:solidFill>
                  <a:srgbClr val="333333"/>
                </a:solidFill>
                <a:latin typeface="Calibri"/>
                <a:ea typeface="Calibri"/>
              </a:rPr>
              <a:t>README.md — Full docs with badges, arch diagrams, API reference</a:t>
            </a:r>
          </a:p>
          <a:p xmlns:a="http://schemas.openxmlformats.org/drawingml/2006/main">
            <a:r>
              <a:rPr lang="en-US" sz="1600" b="0">
                <a:solidFill>
                  <a:srgbClr val="333333"/>
                </a:solidFill>
                <a:latin typeface="Calibri"/>
                <a:ea typeface="Calibri"/>
              </a:rPr>
              <a:t>.gitignore — Excludes __pycache__, .env, venv, logs</a:t>
            </a:r>
          </a:p>
          <a:p xmlns:a="http://schemas.openxmlformats.org/drawingml/2006/main">
            <a:r>
              <a:rPr lang="en-US" sz="1600" b="0">
                <a:solidFill>
                  <a:srgbClr val="333333"/>
                </a:solidFill>
                <a:latin typeface="Calibri"/>
                <a:ea typeface="Calibri"/>
              </a:rPr>
              <a:t>LICENSE — MIT License</a:t>
            </a:r>
          </a:p>
          <a:p xmlns:a="http://schemas.openxmlformats.org/drawingml/2006/main">
            <a:r>
              <a:rPr lang="en-US" sz="1600" b="0">
                <a:solidFill>
                  <a:srgbClr val="333333"/>
                </a:solidFill>
                <a:latin typeface="Calibri"/>
                <a:ea typeface="Calibri"/>
              </a:rPr>
              <a:t>requirements.txt — Python dependencies</a:t>
            </a:r>
          </a:p>
          <a:p xmlns:a="http://schemas.openxmlformats.org/drawingml/2006/main">
            <a:r>
              <a:rPr lang="en-US" sz="1600" b="0">
                <a:solidFill>
                  <a:srgbClr val="333333"/>
                </a:solidFill>
                <a:latin typeface="Calibri"/>
                <a:ea typeface="Calibri"/>
              </a:rPr>
              <a:t>run_nutribot.bat — Windows one-click launcher</a:t>
            </a:r>
          </a:p>
          <a:p xmlns:a="http://schemas.openxmlformats.org/drawingml/2006/main">
            <a:r>
              <a:rPr lang="en-US" sz="1600" b="0">
                <a:solidFill>
                  <a:srgbClr val="333333"/>
                </a:solidFill>
                <a:latin typeface="Calibri"/>
                <a:ea typeface="Calibri"/>
              </a:rPr>
              <a:t>nutrition_ai/app.py — Flask backend</a:t>
            </a:r>
          </a:p>
          <a:p xmlns:a="http://schemas.openxmlformats.org/drawingml/2006/main">
            <a:r>
              <a:rPr lang="en-US" sz="1600" b="0">
                <a:solidFill>
                  <a:srgbClr val="333333"/>
                </a:solidFill>
                <a:latin typeface="Calibri"/>
                <a:ea typeface="Calibri"/>
              </a:rPr>
              <a:t>nutrition_ai/agents/ — AI pipeline modules</a:t>
            </a:r>
          </a:p>
          <a:p xmlns:a="http://schemas.openxmlformats.org/drawingml/2006/main">
            <a:r>
              <a:rPr lang="en-US" sz="1600" b="0">
                <a:solidFill>
                  <a:srgbClr val="333333"/>
                </a:solidFill>
                <a:latin typeface="Calibri"/>
                <a:ea typeface="Calibri"/>
              </a:rPr>
              <a:t>nutrition_ai/utils/ — Guardrails, Granite client, plan saver</a:t>
            </a:r>
          </a:p>
          <a:p xmlns:a="http://schemas.openxmlformats.org/drawingml/2006/main">
            <a:r>
              <a:rPr lang="en-US" sz="1600" b="0">
                <a:solidFill>
                  <a:srgbClr val="333333"/>
                </a:solidFill>
                <a:latin typeface="Calibri"/>
                <a:ea typeface="Calibri"/>
              </a:rPr>
              <a:t>nutrition_ai/templates/ + static/ — Web UI</a:t>
            </a:r>
          </a:p>
          <a:p xmlns:a="http://schemas.openxmlformats.org/drawingml/2006/main">
            <a:r>
              <a:rPr lang="en-US" sz="1600" b="0">
                <a:solidFill>
                  <a:srgbClr val="333333"/>
                </a:solidFill>
                <a:latin typeface="Calibri"/>
                <a:ea typeface="Calibri"/>
              </a:rPr>
              <a:t>nutrition_ai/plans/*.md — Sample generated plans</a:t>
            </a:r>
          </a:p>
        </p:txBody>
      </p:sp>
      <p:sp>
        <p:nvSpPr>
          <p:cNvPr id="100181" name="CloneSteps"/>
          <p:cNvSpPr txBox="1"/>
          <p:nvPr/>
        </p:nvSpPr>
        <p:spPr>
          <a:xfrm xmlns:a="http://schemas.openxmlformats.org/drawingml/2006/main">
            <a:off x="6480000" y="2340000"/>
            <a:ext cx="5040000" cy="3240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600" b="0">
                <a:solidFill>
                  <a:srgbClr val="82CFFF"/>
                </a:solidFill>
                <a:latin typeface="Calibri"/>
                <a:ea typeface="Calibri"/>
              </a:rPr>
              <a:t>Quick Clone &amp; Run</a:t>
            </a:r>
          </a:p>
          <a:p xmlns:a="http://schemas.openxmlformats.org/drawingml/2006/main">
            <a:r>
              <a:rPr lang="en-US" sz="1600" b="0">
                <a:solidFill>
                  <a:srgbClr val="82CFFF"/>
                </a:solidFill>
                <a:latin typeface="Calibri"/>
                <a:ea typeface="Calibri"/>
              </a:rPr>
              <a:t/>
            </a:r>
          </a:p>
          <a:p xmlns:a="http://schemas.openxmlformats.org/drawingml/2006/main">
            <a:r>
              <a:rPr lang="en-US" sz="1600" b="0">
                <a:solidFill>
                  <a:srgbClr val="82CFFF"/>
                </a:solidFill>
                <a:latin typeface="Calibri"/>
                <a:ea typeface="Calibri"/>
              </a:rPr>
              <a:t>git clone https://github.com/Hiren-Modha/Nutrient-Agent.git</a:t>
            </a:r>
          </a:p>
          <a:p xmlns:a="http://schemas.openxmlformats.org/drawingml/2006/main">
            <a:r>
              <a:rPr lang="en-US" sz="1600" b="0">
                <a:solidFill>
                  <a:srgbClr val="82CFFF"/>
                </a:solidFill>
                <a:latin typeface="Calibri"/>
                <a:ea typeface="Calibri"/>
              </a:rPr>
              <a:t>cd Nutrient-Agent</a:t>
            </a:r>
          </a:p>
          <a:p xmlns:a="http://schemas.openxmlformats.org/drawingml/2006/main">
            <a:r>
              <a:rPr lang="en-US" sz="1600" b="0">
                <a:solidFill>
                  <a:srgbClr val="82CFFF"/>
                </a:solidFill>
                <a:latin typeface="Calibri"/>
                <a:ea typeface="Calibri"/>
              </a:rPr>
              <a:t>pip install -r requirements.txt</a:t>
            </a:r>
          </a:p>
          <a:p xmlns:a="http://schemas.openxmlformats.org/drawingml/2006/main">
            <a:r>
              <a:rPr lang="en-US" sz="1600" b="0">
                <a:solidFill>
                  <a:srgbClr val="82CFFF"/>
                </a:solidFill>
                <a:latin typeface="Calibri"/>
                <a:ea typeface="Calibri"/>
              </a:rPr>
              <a:t>cd nutrition_ai</a:t>
            </a:r>
          </a:p>
          <a:p xmlns:a="http://schemas.openxmlformats.org/drawingml/2006/main">
            <a:r>
              <a:rPr lang="en-US" sz="1600" b="0">
                <a:solidFill>
                  <a:srgbClr val="82CFFF"/>
                </a:solidFill>
                <a:latin typeface="Calibri"/>
                <a:ea typeface="Calibri"/>
              </a:rPr>
              <a:t>set FLASK_APP=app.py</a:t>
            </a:r>
          </a:p>
          <a:p xmlns:a="http://schemas.openxmlformats.org/drawingml/2006/main">
            <a:r>
              <a:rPr lang="en-US" sz="1600" b="0">
                <a:solidFill>
                  <a:srgbClr val="82CFFF"/>
                </a:solidFill>
                <a:latin typeface="Calibri"/>
                <a:ea typeface="Calibri"/>
              </a:rPr>
              <a:t>python -m flask run</a:t>
            </a:r>
          </a:p>
          <a:p xmlns:a="http://schemas.openxmlformats.org/drawingml/2006/main">
            <a:r>
              <a:rPr lang="en-US" sz="1600" b="0">
                <a:solidFill>
                  <a:srgbClr val="82CFFF"/>
                </a:solidFill>
                <a:latin typeface="Calibri"/>
                <a:ea typeface="Calibri"/>
              </a:rPr>
              <a:t/>
            </a:r>
          </a:p>
          <a:p xmlns:a="http://schemas.openxmlformats.org/drawingml/2006/main">
            <a:r>
              <a:rPr lang="en-US" sz="1600" b="0">
                <a:solidFill>
                  <a:srgbClr val="82CFFF"/>
                </a:solidFill>
                <a:latin typeface="Calibri"/>
                <a:ea typeface="Calibri"/>
              </a:rPr>
              <a:t>-- Open: http://127.0.0.1:5000 --</a:t>
            </a:r>
          </a:p>
          <a:p xmlns:a="http://schemas.openxmlformats.org/drawingml/2006/main">
            <a:r>
              <a:rPr lang="en-US" sz="1600" b="0">
                <a:solidFill>
                  <a:srgbClr val="82CFFF"/>
                </a:solidFill>
                <a:latin typeface="Calibri"/>
                <a:ea typeface="Calibri"/>
              </a:rPr>
              <a:t/>
            </a:r>
          </a:p>
          <a:p xmlns:a="http://schemas.openxmlformats.org/drawingml/2006/main">
            <a:r>
              <a:rPr lang="en-US" sz="1600" b="0">
                <a:solidFill>
                  <a:srgbClr val="82CFFF"/>
                </a:solidFill>
                <a:latin typeface="Calibri"/>
                <a:ea typeface="Calibri"/>
              </a:rPr>
              <a:t>OR: Double-click run_nutribot.bat</a:t>
            </a:r>
          </a:p>
          <a:p xmlns:a="http://schemas.openxmlformats.org/drawingml/2006/main">
            <a:r>
              <a:rPr lang="en-US" sz="1600" b="0">
                <a:solidFill>
                  <a:srgbClr val="82CFFF"/>
                </a:solidFill>
                <a:latin typeface="Calibri"/>
                <a:ea typeface="Calibri"/>
              </a:rPr>
              <a:t>(auto-installs, auto-opens browser)</a:t>
            </a:r>
          </a:p>
        </p:txBody>
      </p:sp>
      <p:sp>
        <p:nvSpPr>
          <p:cNvPr id="100182"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r>
              <a:rPr lang="en-US" sz="1200" b="0">
                <a:solidFill>
                  <a:srgbClr val="FFFFFF"/>
                </a:solidFill>
              </a:rPr>
              <a:t>NutriBot — IBM Granite Nutrition Agentic AI  |  Slide 17</a:t>
            </a:r>
          </a:p>
        </p:txBody>
      </p:sp>
    </p:spTree>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83"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184"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400" b="1">
                <a:solidFill>
                  <a:srgbClr val="0D1B2A"/>
                </a:solidFill>
                <a:latin typeface="Calibri"/>
                <a:ea typeface="Calibri"/>
              </a:rPr>
              <a:t>AI Ethics, HAM Framework &amp; Medical Disclaimer</a:t>
            </a:r>
          </a:p>
        </p:txBody>
      </p:sp>
      <p:sp>
        <p:nvSpPr>
          <p:cNvPr id="100185"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endParaRPr lang="en-US" sz="800">
              <a:solidFill>
                <a:srgbClr val="DA1E28"/>
              </a:solidFill>
            </a:endParaRPr>
          </a:p>
        </p:txBody>
      </p:sp>
      <p:sp>
        <p:nvSpPr>
          <p:cNvPr id="100186" name="EthicsBlock"/>
          <p:cNvSpPr txBox="1"/>
          <p:nvPr/>
        </p:nvSpPr>
        <p:spPr>
          <a:xfrm xmlns:a="http://schemas.openxmlformats.org/drawingml/2006/main">
            <a:off x="720000" y="1260000"/>
            <a:ext cx="10440000" cy="1980000"/>
          </a:xfrm>
          <a:prstGeom xmlns:a="http://schemas.openxmlformats.org/drawingml/2006/main" prst="rect">
            <a:avLst/>
          </a:prstGeom>
          <a:solidFill xmlns:a="http://schemas.openxmlformats.org/drawingml/2006/main">
            <a:srgbClr val="FEE2E2"/>
          </a:solidFill>
        </p:spPr>
        <p:txBody>
          <a:bodyPr xmlns:a="http://schemas.openxmlformats.org/drawingml/2006/main"/>
          <a:lstStyle xmlns:a="http://schemas.openxmlformats.org/drawingml/2006/main"/>
          <a:p xmlns:a="http://schemas.openxmlformats.org/drawingml/2006/main">
            <a:r>
              <a:rPr lang="en-US" sz="1700" b="0">
                <a:solidFill>
                  <a:srgbClr val="7F1D1D"/>
                </a:solidFill>
                <a:latin typeface="Calibri"/>
                <a:ea typeface="Calibri"/>
              </a:rPr>
              <a:t>IBM AI Ethics Principles Applied</a:t>
            </a:r>
          </a:p>
          <a:p xmlns:a="http://schemas.openxmlformats.org/drawingml/2006/main">
            <a:r>
              <a:rPr lang="en-US" sz="1700" b="0">
                <a:solidFill>
                  <a:srgbClr val="7F1D1D"/>
                </a:solidFill>
                <a:latin typeface="Calibri"/>
                <a:ea typeface="Calibri"/>
              </a:rPr>
              <a:t/>
            </a:r>
          </a:p>
          <a:p xmlns:a="http://schemas.openxmlformats.org/drawingml/2006/main">
            <a:r>
              <a:rPr lang="en-US" sz="1700" b="0">
                <a:solidFill>
                  <a:srgbClr val="7F1D1D"/>
                </a:solidFill>
                <a:latin typeface="Calibri"/>
                <a:ea typeface="Calibri"/>
              </a:rPr>
              <a:t>Transparency — Model ID (ibm/granite-13b-instruct-v2) disclosed to user</a:t>
            </a:r>
          </a:p>
          <a:p xmlns:a="http://schemas.openxmlformats.org/drawingml/2006/main">
            <a:r>
              <a:rPr lang="en-US" sz="1700" b="0">
                <a:solidFill>
                  <a:srgbClr val="7F1D1D"/>
                </a:solidFill>
                <a:latin typeface="Calibri"/>
                <a:ea typeface="Calibri"/>
              </a:rPr>
              <a:t>Fairness — No discrimination based on age, gender, religion, or ethnicity</a:t>
            </a:r>
          </a:p>
          <a:p xmlns:a="http://schemas.openxmlformats.org/drawingml/2006/main">
            <a:r>
              <a:rPr lang="en-US" sz="1700" b="0">
                <a:solidFill>
                  <a:srgbClr val="7F1D1D"/>
                </a:solidFill>
                <a:latin typeface="Calibri"/>
                <a:ea typeface="Calibri"/>
              </a:rPr>
              <a:t>Explainability — System context (HAM) visible in code; outputs explained</a:t>
            </a:r>
          </a:p>
          <a:p xmlns:a="http://schemas.openxmlformats.org/drawingml/2006/main">
            <a:r>
              <a:rPr lang="en-US" sz="1700" b="0">
                <a:solidFill>
                  <a:srgbClr val="7F1D1D"/>
                </a:solidFill>
                <a:latin typeface="Calibri"/>
                <a:ea typeface="Calibri"/>
              </a:rPr>
              <a:t>Robustness — 5-layer safety pipeline on every request and response</a:t>
            </a:r>
          </a:p>
          <a:p xmlns:a="http://schemas.openxmlformats.org/drawingml/2006/main">
            <a:r>
              <a:rPr lang="en-US" sz="1700" b="0">
                <a:solidFill>
                  <a:srgbClr val="7F1D1D"/>
                </a:solidFill>
                <a:latin typeface="Calibri"/>
                <a:ea typeface="Calibri"/>
              </a:rPr>
              <a:t>Privacy — No user data stored beyond session; no third-party sharing</a:t>
            </a:r>
          </a:p>
          <a:p xmlns:a="http://schemas.openxmlformats.org/drawingml/2006/main">
            <a:r>
              <a:rPr lang="en-US" sz="1700" b="0">
                <a:solidFill>
                  <a:srgbClr val="7F1D1D"/>
                </a:solidFill>
                <a:latin typeface="Calibri"/>
                <a:ea typeface="Calibri"/>
              </a:rPr>
              <a:t>Accountability — Medical disclaimer; always defers to professionals</a:t>
            </a:r>
          </a:p>
        </p:txBody>
      </p:sp>
      <p:sp>
        <p:nvSpPr>
          <p:cNvPr id="100187" name="HAMBlock"/>
          <p:cNvSpPr txBox="1"/>
          <p:nvPr/>
        </p:nvSpPr>
        <p:spPr>
          <a:xfrm xmlns:a="http://schemas.openxmlformats.org/drawingml/2006/main">
            <a:off x="720000" y="3420000"/>
            <a:ext cx="10440000" cy="1440000"/>
          </a:xfrm>
          <a:prstGeom xmlns:a="http://schemas.openxmlformats.org/drawingml/2006/main" prst="rect">
            <a:avLst/>
          </a:prstGeom>
          <a:solidFill xmlns:a="http://schemas.openxmlformats.org/drawingml/2006/main">
            <a:srgbClr val="E8F0FE"/>
          </a:solidFill>
        </p:spPr>
        <p:txBody>
          <a:bodyPr xmlns:a="http://schemas.openxmlformats.org/drawingml/2006/main"/>
          <a:lstStyle xmlns:a="http://schemas.openxmlformats.org/drawingml/2006/main"/>
          <a:p xmlns:a="http://schemas.openxmlformats.org/drawingml/2006/main">
            <a:r>
              <a:rPr lang="en-US" sz="1700" b="0">
                <a:solidFill>
                  <a:srgbClr val="0D1B2A"/>
                </a:solidFill>
                <a:latin typeface="Calibri"/>
                <a:ea typeface="Calibri"/>
              </a:rPr>
              <a:t>HAM Framework (System Prompt)</a:t>
            </a:r>
          </a:p>
          <a:p xmlns:a="http://schemas.openxmlformats.org/drawingml/2006/main">
            <a:r>
              <a:rPr lang="en-US" sz="1700" b="0">
                <a:solidFill>
                  <a:srgbClr val="0D1B2A"/>
                </a:solidFill>
                <a:latin typeface="Calibri"/>
                <a:ea typeface="Calibri"/>
              </a:rPr>
              <a:t/>
            </a:r>
          </a:p>
          <a:p xmlns:a="http://schemas.openxmlformats.org/drawingml/2006/main">
            <a:r>
              <a:rPr lang="en-US" sz="1700" b="0">
                <a:solidFill>
                  <a:srgbClr val="0D1B2A"/>
                </a:solidFill>
                <a:latin typeface="Calibri"/>
                <a:ea typeface="Calibri"/>
              </a:rPr>
              <a:t>HELPFUL: Provide actionable, practical advice tailored to the individual</a:t>
            </a:r>
          </a:p>
          <a:p xmlns:a="http://schemas.openxmlformats.org/drawingml/2006/main">
            <a:r>
              <a:rPr lang="en-US" sz="1700" b="0">
                <a:solidFill>
                  <a:srgbClr val="0D1B2A"/>
                </a:solidFill>
                <a:latin typeface="Calibri"/>
                <a:ea typeface="Calibri"/>
              </a:rPr>
              <a:t>ACCURATE: Base recommendations on established nutritional science</a:t>
            </a:r>
          </a:p>
          <a:p xmlns:a="http://schemas.openxmlformats.org/drawingml/2006/main">
            <a:r>
              <a:rPr lang="en-US" sz="1700" b="0">
                <a:solidFill>
                  <a:srgbClr val="0D1B2A"/>
                </a:solidFill>
                <a:latin typeface="Calibri"/>
                <a:ea typeface="Calibri"/>
              </a:rPr>
              <a:t>MINDFUL: Show empathy, respect cultural diversity, consider medical conditions</a:t>
            </a:r>
          </a:p>
        </p:txBody>
      </p:sp>
      <p:sp>
        <p:nvSpPr>
          <p:cNvPr id="100188" name="Disclaimer"/>
          <p:cNvSpPr txBox="1"/>
          <p:nvPr/>
        </p:nvSpPr>
        <p:spPr>
          <a:xfrm xmlns:a="http://schemas.openxmlformats.org/drawingml/2006/main">
            <a:off x="720000" y="5040000"/>
            <a:ext cx="10440000" cy="1260000"/>
          </a:xfrm>
          <a:prstGeom xmlns:a="http://schemas.openxmlformats.org/drawingml/2006/main" prst="rect">
            <a:avLst/>
          </a:prstGeom>
          <a:solidFill xmlns:a="http://schemas.openxmlformats.org/drawingml/2006/main">
            <a:srgbClr val="FEF3C7"/>
          </a:solidFill>
        </p:spPr>
        <p:txBody>
          <a:bodyPr xmlns:a="http://schemas.openxmlformats.org/drawingml/2006/main"/>
          <a:lstStyle xmlns:a="http://schemas.openxmlformats.org/drawingml/2006/main"/>
          <a:p xmlns:a="http://schemas.openxmlformats.org/drawingml/2006/main">
            <a:r>
              <a:rPr lang="en-US" sz="1400" b="0">
                <a:solidFill>
                  <a:srgbClr val="92400E"/>
                </a:solidFill>
                <a:latin typeface="Calibri"/>
                <a:ea typeface="Calibri"/>
              </a:rPr>
              <a:t>Medical Disclaimer (auto-appended to every plan)</a:t>
            </a:r>
          </a:p>
          <a:p xmlns:a="http://schemas.openxmlformats.org/drawingml/2006/main">
            <a:r>
              <a:rPr lang="en-US" sz="1400" b="0">
                <a:solidFill>
                  <a:srgbClr val="92400E"/>
                </a:solidFill>
                <a:latin typeface="Calibri"/>
                <a:ea typeface="Calibri"/>
              </a:rPr>
              <a:t>"This nutrition plan is generated by an AI assistant and is intended for informational and educational purposes only. It does NOT constitute medical advice, diagnosis, or treatment. Always consult a qualified healthcare professional or registered dietitian before making significant changes to your diet, especially if you have existing medical conditions."</a:t>
            </a:r>
          </a:p>
          <a:p xmlns:a="http://schemas.openxmlformats.org/drawingml/2006/main">
            <a:r>
              <a:rPr lang="en-US" sz="1400" b="0">
                <a:solidFill>
                  <a:srgbClr val="92400E"/>
                </a:solidFill>
                <a:latin typeface="Calibri"/>
                <a:ea typeface="Calibri"/>
              </a:rPr>
              <a:t>                                          — IBM Granite Nutrition AI</a:t>
            </a:r>
          </a:p>
        </p:txBody>
      </p:sp>
      <p:sp>
        <p:nvSpPr>
          <p:cNvPr id="100189"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DA1E28"/>
          </a:solidFill>
        </p:spPr>
        <p:txBody>
          <a:bodyPr xmlns:a="http://schemas.openxmlformats.org/drawingml/2006/main"/>
          <a:lstStyle xmlns:a="http://schemas.openxmlformats.org/drawingml/2006/main"/>
          <a:p xmlns:a="http://schemas.openxmlformats.org/drawingml/2006/main">
            <a:r>
              <a:rPr lang="en-US" sz="1200" b="0">
                <a:solidFill>
                  <a:srgbClr val="FFFFFF"/>
                </a:solidFill>
              </a:rPr>
              <a:t>NutriBot — IBM Granite Nutrition Agentic AI  |  Slide 18</a:t>
            </a:r>
          </a:p>
        </p:txBody>
      </p:sp>
    </p:spTree>
  </p:cSld>
</p:sld>
</file>

<file path=ppt/slides/slide19.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190"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191"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FFFFFF"/>
                </a:solidFill>
                <a:latin typeface="Calibri"/>
                <a:ea typeface="Calibri"/>
              </a:rPr>
              <a:t>Technology Stack</a:t>
            </a:r>
          </a:p>
        </p:txBody>
      </p:sp>
      <p:sp>
        <p:nvSpPr>
          <p:cNvPr id="100192"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82CFFF"/>
          </a:solidFill>
        </p:spPr>
        <p:txBody>
          <a:bodyPr xmlns:a="http://schemas.openxmlformats.org/drawingml/2006/main"/>
          <a:lstStyle xmlns:a="http://schemas.openxmlformats.org/drawingml/2006/main"/>
          <a:p xmlns:a="http://schemas.openxmlformats.org/drawingml/2006/main">
            <a:endParaRPr lang="en-US" sz="800">
              <a:solidFill>
                <a:srgbClr val="82CFFF"/>
              </a:solidFill>
            </a:endParaRPr>
          </a:p>
        </p:txBody>
      </p:sp>
      <p:sp>
        <p:nvSpPr>
          <p:cNvPr id="100193" name="AI"/>
          <p:cNvSpPr txBox="1"/>
          <p:nvPr/>
        </p:nvSpPr>
        <p:spPr>
          <a:xfrm xmlns:a="http://schemas.openxmlformats.org/drawingml/2006/main">
            <a:off x="720000" y="1368000"/>
            <a:ext cx="2520000" cy="1980000"/>
          </a:xfrm>
          <a:prstGeom xmlns:a="http://schemas.openxmlformats.org/drawingml/2006/main" prst="rect">
            <a:avLst/>
          </a:prstGeom>
          <a:solidFill xmlns:a="http://schemas.openxmlformats.org/drawingml/2006/main">
            <a:srgbClr val="1A1040"/>
          </a:solidFill>
        </p:spPr>
        <p:txBody>
          <a:bodyPr xmlns:a="http://schemas.openxmlformats.org/drawingml/2006/main"/>
          <a:lstStyle xmlns:a="http://schemas.openxmlformats.org/drawingml/2006/main"/>
          <a:p xmlns:a="http://schemas.openxmlformats.org/drawingml/2006/main">
            <a:r>
              <a:rPr lang="en-US" sz="1600" b="0">
                <a:solidFill>
                  <a:srgbClr val="C4B5FD"/>
                </a:solidFill>
                <a:latin typeface="Calibri"/>
                <a:ea typeface="Calibri"/>
              </a:rPr>
              <a:t>AI / LLM</a:t>
            </a:r>
          </a:p>
          <a:p xmlns:a="http://schemas.openxmlformats.org/drawingml/2006/main">
            <a:r>
              <a:rPr lang="en-US" sz="1600" b="0">
                <a:solidFill>
                  <a:srgbClr val="C4B5FD"/>
                </a:solidFill>
                <a:latin typeface="Calibri"/>
                <a:ea typeface="Calibri"/>
              </a:rPr>
              <a:t>ibm/granite-13b-instruct-v2</a:t>
            </a:r>
          </a:p>
          <a:p xmlns:a="http://schemas.openxmlformats.org/drawingml/2006/main">
            <a:r>
              <a:rPr lang="en-US" sz="1600" b="0">
                <a:solidFill>
                  <a:srgbClr val="C4B5FD"/>
                </a:solidFill>
                <a:latin typeface="Calibri"/>
                <a:ea typeface="Calibri"/>
              </a:rPr>
              <a:t>IBM watsonx.ai</a:t>
            </a:r>
          </a:p>
          <a:p xmlns:a="http://schemas.openxmlformats.org/drawingml/2006/main">
            <a:r>
              <a:rPr lang="en-US" sz="1600" b="0">
                <a:solidFill>
                  <a:srgbClr val="C4B5FD"/>
                </a:solidFill>
                <a:latin typeface="Calibri"/>
                <a:ea typeface="Calibri"/>
              </a:rPr>
              <a:t>IAM Token Auth</a:t>
            </a:r>
          </a:p>
          <a:p xmlns:a="http://schemas.openxmlformats.org/drawingml/2006/main">
            <a:r>
              <a:rPr lang="en-US" sz="1600" b="0">
                <a:solidFill>
                  <a:srgbClr val="C4B5FD"/>
                </a:solidFill>
                <a:latin typeface="Calibri"/>
                <a:ea typeface="Calibri"/>
              </a:rPr>
              <a:t>REST API v1</a:t>
            </a:r>
          </a:p>
        </p:txBody>
      </p:sp>
      <p:sp>
        <p:nvSpPr>
          <p:cNvPr id="100194" name="Backend"/>
          <p:cNvSpPr txBox="1"/>
          <p:nvPr/>
        </p:nvSpPr>
        <p:spPr>
          <a:xfrm xmlns:a="http://schemas.openxmlformats.org/drawingml/2006/main">
            <a:off x="3780000" y="1368000"/>
            <a:ext cx="2520000" cy="1980000"/>
          </a:xfrm>
          <a:prstGeom xmlns:a="http://schemas.openxmlformats.org/drawingml/2006/main" prst="rect">
            <a:avLst/>
          </a:prstGeom>
          <a:solidFill xmlns:a="http://schemas.openxmlformats.org/drawingml/2006/main">
            <a:srgbClr val="0F1E3A"/>
          </a:solidFill>
        </p:spPr>
        <p:txBody>
          <a:bodyPr xmlns:a="http://schemas.openxmlformats.org/drawingml/2006/main"/>
          <a:lstStyle xmlns:a="http://schemas.openxmlformats.org/drawingml/2006/main"/>
          <a:p xmlns:a="http://schemas.openxmlformats.org/drawingml/2006/main">
            <a:r>
              <a:rPr lang="en-US" sz="1600" b="0">
                <a:solidFill>
                  <a:srgbClr val="82CFFF"/>
                </a:solidFill>
                <a:latin typeface="Calibri"/>
                <a:ea typeface="Calibri"/>
              </a:rPr>
              <a:t>Backend</a:t>
            </a:r>
          </a:p>
          <a:p xmlns:a="http://schemas.openxmlformats.org/drawingml/2006/main">
            <a:r>
              <a:rPr lang="en-US" sz="1600" b="0">
                <a:solidFill>
                  <a:srgbClr val="82CFFF"/>
                </a:solidFill>
                <a:latin typeface="Calibri"/>
                <a:ea typeface="Calibri"/>
              </a:rPr>
              <a:t>Python 3.9+</a:t>
            </a:r>
          </a:p>
          <a:p xmlns:a="http://schemas.openxmlformats.org/drawingml/2006/main">
            <a:r>
              <a:rPr lang="en-US" sz="1600" b="0">
                <a:solidFill>
                  <a:srgbClr val="82CFFF"/>
                </a:solidFill>
                <a:latin typeface="Calibri"/>
                <a:ea typeface="Calibri"/>
              </a:rPr>
              <a:t>Flask 3.0</a:t>
            </a:r>
          </a:p>
          <a:p xmlns:a="http://schemas.openxmlformats.org/drawingml/2006/main">
            <a:r>
              <a:rPr lang="en-US" sz="1600" b="0">
                <a:solidFill>
                  <a:srgbClr val="82CFFF"/>
                </a:solidFill>
                <a:latin typeface="Calibri"/>
                <a:ea typeface="Calibri"/>
              </a:rPr>
              <a:t>requests 2.31</a:t>
            </a:r>
          </a:p>
          <a:p xmlns:a="http://schemas.openxmlformats.org/drawingml/2006/main">
            <a:r>
              <a:rPr lang="en-US" sz="1600" b="0">
                <a:solidFill>
                  <a:srgbClr val="82CFFF"/>
                </a:solidFill>
                <a:latin typeface="Calibri"/>
                <a:ea typeface="Calibri"/>
              </a:rPr>
              <a:t>python-dotenv</a:t>
            </a:r>
          </a:p>
          <a:p xmlns:a="http://schemas.openxmlformats.org/drawingml/2006/main">
            <a:r>
              <a:rPr lang="en-US" sz="1600" b="0">
                <a:solidFill>
                  <a:srgbClr val="82CFFF"/>
                </a:solidFill>
                <a:latin typeface="Calibri"/>
                <a:ea typeface="Calibri"/>
              </a:rPr>
              <a:t>markdown 3.5</a:t>
            </a:r>
          </a:p>
        </p:txBody>
      </p:sp>
      <p:sp>
        <p:nvSpPr>
          <p:cNvPr id="100195" name="Frontend"/>
          <p:cNvSpPr txBox="1"/>
          <p:nvPr/>
        </p:nvSpPr>
        <p:spPr>
          <a:xfrm xmlns:a="http://schemas.openxmlformats.org/drawingml/2006/main">
            <a:off x="6840000" y="1368000"/>
            <a:ext cx="2520000" cy="1980000"/>
          </a:xfrm>
          <a:prstGeom xmlns:a="http://schemas.openxmlformats.org/drawingml/2006/main" prst="rect">
            <a:avLst/>
          </a:prstGeom>
          <a:solidFill xmlns:a="http://schemas.openxmlformats.org/drawingml/2006/main">
            <a:srgbClr val="0A2A1A"/>
          </a:solidFill>
        </p:spPr>
        <p:txBody>
          <a:bodyPr xmlns:a="http://schemas.openxmlformats.org/drawingml/2006/main"/>
          <a:lstStyle xmlns:a="http://schemas.openxmlformats.org/drawingml/2006/main"/>
          <a:p xmlns:a="http://schemas.openxmlformats.org/drawingml/2006/main">
            <a:r>
              <a:rPr lang="en-US" sz="1600" b="0">
                <a:solidFill>
                  <a:srgbClr val="6EE7B7"/>
                </a:solidFill>
                <a:latin typeface="Calibri"/>
                <a:ea typeface="Calibri"/>
              </a:rPr>
              <a:t>Frontend</a:t>
            </a:r>
          </a:p>
          <a:p xmlns:a="http://schemas.openxmlformats.org/drawingml/2006/main">
            <a:r>
              <a:rPr lang="en-US" sz="1600" b="0">
                <a:solidFill>
                  <a:srgbClr val="6EE7B7"/>
                </a:solidFill>
                <a:latin typeface="Calibri"/>
                <a:ea typeface="Calibri"/>
              </a:rPr>
              <a:t>HTML5</a:t>
            </a:r>
          </a:p>
          <a:p xmlns:a="http://schemas.openxmlformats.org/drawingml/2006/main">
            <a:r>
              <a:rPr lang="en-US" sz="1600" b="0">
                <a:solidFill>
                  <a:srgbClr val="6EE7B7"/>
                </a:solidFill>
                <a:latin typeface="Calibri"/>
                <a:ea typeface="Calibri"/>
              </a:rPr>
              <a:t>CSS3 (Custom Props)</a:t>
            </a:r>
          </a:p>
          <a:p xmlns:a="http://schemas.openxmlformats.org/drawingml/2006/main">
            <a:r>
              <a:rPr lang="en-US" sz="1600" b="0">
                <a:solidFill>
                  <a:srgbClr val="6EE7B7"/>
                </a:solidFill>
                <a:latin typeface="Calibri"/>
                <a:ea typeface="Calibri"/>
              </a:rPr>
              <a:t>Vanilla JavaScript</a:t>
            </a:r>
          </a:p>
          <a:p xmlns:a="http://schemas.openxmlformats.org/drawingml/2006/main">
            <a:r>
              <a:rPr lang="en-US" sz="1600" b="0">
                <a:solidFill>
                  <a:srgbClr val="6EE7B7"/>
                </a:solidFill>
                <a:latin typeface="Calibri"/>
                <a:ea typeface="Calibri"/>
              </a:rPr>
              <a:t>Fetch API</a:t>
            </a:r>
          </a:p>
          <a:p xmlns:a="http://schemas.openxmlformats.org/drawingml/2006/main">
            <a:r>
              <a:rPr lang="en-US" sz="1600" b="0">
                <a:solidFill>
                  <a:srgbClr val="6EE7B7"/>
                </a:solidFill>
                <a:latin typeface="Calibri"/>
                <a:ea typeface="Calibri"/>
              </a:rPr>
              <a:t>Markdown-to-HTML renderer</a:t>
            </a:r>
          </a:p>
        </p:txBody>
      </p:sp>
      <p:sp>
        <p:nvSpPr>
          <p:cNvPr id="100196" name="DevOps"/>
          <p:cNvSpPr txBox="1"/>
          <p:nvPr/>
        </p:nvSpPr>
        <p:spPr>
          <a:xfrm xmlns:a="http://schemas.openxmlformats.org/drawingml/2006/main">
            <a:off x="9900000" y="1368000"/>
            <a:ext cx="1800000" cy="1980000"/>
          </a:xfrm>
          <a:prstGeom xmlns:a="http://schemas.openxmlformats.org/drawingml/2006/main" prst="rect">
            <a:avLst/>
          </a:prstGeom>
          <a:solidFill xmlns:a="http://schemas.openxmlformats.org/drawingml/2006/main">
            <a:srgbClr val="1A2210"/>
          </a:solidFill>
        </p:spPr>
        <p:txBody>
          <a:bodyPr xmlns:a="http://schemas.openxmlformats.org/drawingml/2006/main"/>
          <a:lstStyle xmlns:a="http://schemas.openxmlformats.org/drawingml/2006/main"/>
          <a:p xmlns:a="http://schemas.openxmlformats.org/drawingml/2006/main">
            <a:r>
              <a:rPr lang="en-US" sz="1500" b="0">
                <a:solidFill>
                  <a:srgbClr val="FCD34D"/>
                </a:solidFill>
                <a:latin typeface="Calibri"/>
                <a:ea typeface="Calibri"/>
              </a:rPr>
              <a:t>DevOps / Deploy</a:t>
            </a:r>
          </a:p>
          <a:p xmlns:a="http://schemas.openxmlformats.org/drawingml/2006/main">
            <a:r>
              <a:rPr lang="en-US" sz="1500" b="0">
                <a:solidFill>
                  <a:srgbClr val="FCD34D"/>
                </a:solidFill>
                <a:latin typeface="Calibri"/>
                <a:ea typeface="Calibri"/>
              </a:rPr>
              <a:t>Git 2.55</a:t>
            </a:r>
          </a:p>
          <a:p xmlns:a="http://schemas.openxmlformats.org/drawingml/2006/main">
            <a:r>
              <a:rPr lang="en-US" sz="1500" b="0">
                <a:solidFill>
                  <a:srgbClr val="FCD34D"/>
                </a:solidFill>
                <a:latin typeface="Calibri"/>
                <a:ea typeface="Calibri"/>
              </a:rPr>
              <a:t>GitHub</a:t>
            </a:r>
          </a:p>
          <a:p xmlns:a="http://schemas.openxmlformats.org/drawingml/2006/main">
            <a:r>
              <a:rPr lang="en-US" sz="1500" b="0">
                <a:solidFill>
                  <a:srgbClr val="FCD34D"/>
                </a:solidFill>
                <a:latin typeface="Calibri"/>
                <a:ea typeface="Calibri"/>
              </a:rPr>
              <a:t>run_nutribot.bat</a:t>
            </a:r>
          </a:p>
          <a:p xmlns:a="http://schemas.openxmlformats.org/drawingml/2006/main">
            <a:r>
              <a:rPr lang="en-US" sz="1500" b="0">
                <a:solidFill>
                  <a:srgbClr val="FCD34D"/>
                </a:solidFill>
                <a:latin typeface="Calibri"/>
                <a:ea typeface="Calibri"/>
              </a:rPr>
              <a:t>.env.example</a:t>
            </a:r>
          </a:p>
          <a:p xmlns:a="http://schemas.openxmlformats.org/drawingml/2006/main">
            <a:r>
              <a:rPr lang="en-US" sz="1500" b="0">
                <a:solidFill>
                  <a:srgbClr val="FCD34D"/>
                </a:solidFill>
                <a:latin typeface="Calibri"/>
                <a:ea typeface="Calibri"/>
              </a:rPr>
              <a:t>requirements.txt</a:t>
            </a:r>
          </a:p>
        </p:txBody>
      </p:sp>
      <p:sp>
        <p:nvSpPr>
          <p:cNvPr id="100197" name="Design"/>
          <p:cNvSpPr txBox="1"/>
          <p:nvPr/>
        </p:nvSpPr>
        <p:spPr>
          <a:xfrm xmlns:a="http://schemas.openxmlformats.org/drawingml/2006/main">
            <a:off x="720000" y="3780000"/>
            <a:ext cx="4680000" cy="1620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600" b="0">
                <a:solidFill>
                  <a:srgbClr val="A8B8C8"/>
                </a:solidFill>
                <a:latin typeface="Calibri"/>
                <a:ea typeface="Calibri"/>
              </a:rPr>
              <a:t>Design Principles</a:t>
            </a:r>
          </a:p>
          <a:p xmlns:a="http://schemas.openxmlformats.org/drawingml/2006/main">
            <a:r>
              <a:rPr lang="en-US" sz="1600" b="0">
                <a:solidFill>
                  <a:srgbClr val="A8B8C8"/>
                </a:solidFill>
                <a:latin typeface="Calibri"/>
                <a:ea typeface="Calibri"/>
              </a:rPr>
              <a:t>IBM Carbon palette</a:t>
            </a:r>
          </a:p>
          <a:p xmlns:a="http://schemas.openxmlformats.org/drawingml/2006/main">
            <a:r>
              <a:rPr lang="en-US" sz="1600" b="0">
                <a:solidFill>
                  <a:srgbClr val="A8B8C8"/>
                </a:solidFill>
                <a:latin typeface="Calibri"/>
                <a:ea typeface="Calibri"/>
              </a:rPr>
              <a:t>Responsive grid</a:t>
            </a:r>
          </a:p>
          <a:p xmlns:a="http://schemas.openxmlformats.org/drawingml/2006/main">
            <a:r>
              <a:rPr lang="en-US" sz="1600" b="0">
                <a:solidFill>
                  <a:srgbClr val="A8B8C8"/>
                </a:solidFill>
                <a:latin typeface="Calibri"/>
                <a:ea typeface="Calibri"/>
              </a:rPr>
              <a:t>Accessibility-first</a:t>
            </a:r>
          </a:p>
          <a:p xmlns:a="http://schemas.openxmlformats.org/drawingml/2006/main">
            <a:r>
              <a:rPr lang="en-US" sz="1600" b="0">
                <a:solidFill>
                  <a:srgbClr val="A8B8C8"/>
                </a:solidFill>
                <a:latin typeface="Calibri"/>
                <a:ea typeface="Calibri"/>
              </a:rPr>
              <a:t>No external CSS/JS frameworks</a:t>
            </a:r>
          </a:p>
          <a:p xmlns:a="http://schemas.openxmlformats.org/drawingml/2006/main">
            <a:r>
              <a:rPr lang="en-US" sz="1600" b="0">
                <a:solidFill>
                  <a:srgbClr val="A8B8C8"/>
                </a:solidFill>
                <a:latin typeface="Calibri"/>
                <a:ea typeface="Calibri"/>
              </a:rPr>
              <a:t>Zero external dependencies in UI</a:t>
            </a:r>
          </a:p>
        </p:txBody>
      </p:sp>
      <p:sp>
        <p:nvSpPr>
          <p:cNvPr id="100198" name="Patterns"/>
          <p:cNvSpPr txBox="1"/>
          <p:nvPr/>
        </p:nvSpPr>
        <p:spPr>
          <a:xfrm xmlns:a="http://schemas.openxmlformats.org/drawingml/2006/main">
            <a:off x="6120000" y="3780000"/>
            <a:ext cx="5400000" cy="1620000"/>
          </a:xfrm>
          <a:prstGeom xmlns:a="http://schemas.openxmlformats.org/drawingml/2006/main" prst="rect">
            <a:avLst/>
          </a:prstGeom>
          <a:solidFill xmlns:a="http://schemas.openxmlformats.org/drawingml/2006/main">
            <a:srgbClr val="1C2B4A"/>
          </a:solidFill>
        </p:spPr>
        <p:txBody>
          <a:bodyPr xmlns:a="http://schemas.openxmlformats.org/drawingml/2006/main"/>
          <a:lstStyle xmlns:a="http://schemas.openxmlformats.org/drawingml/2006/main"/>
          <a:p xmlns:a="http://schemas.openxmlformats.org/drawingml/2006/main">
            <a:r>
              <a:rPr lang="en-US" sz="1600" b="0">
                <a:solidFill>
                  <a:srgbClr val="A8B8C8"/>
                </a:solidFill>
                <a:latin typeface="Calibri"/>
                <a:ea typeface="Calibri"/>
              </a:rPr>
              <a:t>Software Patterns</a:t>
            </a:r>
          </a:p>
          <a:p xmlns:a="http://schemas.openxmlformats.org/drawingml/2006/main">
            <a:r>
              <a:rPr lang="en-US" sz="1600" b="0">
                <a:solidFill>
                  <a:srgbClr val="A8B8C8"/>
                </a:solidFill>
                <a:latin typeface="Calibri"/>
                <a:ea typeface="Calibri"/>
              </a:rPr>
              <a:t>Multi-agent architecture</a:t>
            </a:r>
          </a:p>
          <a:p xmlns:a="http://schemas.openxmlformats.org/drawingml/2006/main">
            <a:r>
              <a:rPr lang="en-US" sz="1600" b="0">
                <a:solidFill>
                  <a:srgbClr val="A8B8C8"/>
                </a:solidFill>
                <a:latin typeface="Calibri"/>
                <a:ea typeface="Calibri"/>
              </a:rPr>
              <a:t>Strategy pattern (fallback)</a:t>
            </a:r>
          </a:p>
          <a:p xmlns:a="http://schemas.openxmlformats.org/drawingml/2006/main">
            <a:r>
              <a:rPr lang="en-US" sz="1600" b="0">
                <a:solidFill>
                  <a:srgbClr val="A8B8C8"/>
                </a:solidFill>
                <a:latin typeface="Calibri"/>
                <a:ea typeface="Calibri"/>
              </a:rPr>
              <a:t>Facade (granite_client)</a:t>
            </a:r>
          </a:p>
          <a:p xmlns:a="http://schemas.openxmlformats.org/drawingml/2006/main">
            <a:r>
              <a:rPr lang="en-US" sz="1600" b="0">
                <a:solidFill>
                  <a:srgbClr val="A8B8C8"/>
                </a:solidFill>
                <a:latin typeface="Calibri"/>
                <a:ea typeface="Calibri"/>
              </a:rPr>
              <a:t>Template Method (SDLC phases)</a:t>
            </a:r>
          </a:p>
          <a:p xmlns:a="http://schemas.openxmlformats.org/drawingml/2006/main">
            <a:r>
              <a:rPr lang="en-US" sz="1600" b="0">
                <a:solidFill>
                  <a:srgbClr val="A8B8C8"/>
                </a:solidFill>
                <a:latin typeface="Calibri"/>
                <a:ea typeface="Calibri"/>
              </a:rPr>
              <a:t>Repository (plan_saver)</a:t>
            </a:r>
          </a:p>
          <a:p xmlns:a="http://schemas.openxmlformats.org/drawingml/2006/main">
            <a:r>
              <a:rPr lang="en-US" sz="1600" b="0">
                <a:solidFill>
                  <a:srgbClr val="A8B8C8"/>
                </a:solidFill>
                <a:latin typeface="Calibri"/>
                <a:ea typeface="Calibri"/>
              </a:rPr>
              <a:t>Decorator (guardrails)</a:t>
            </a:r>
          </a:p>
        </p:txBody>
      </p:sp>
      <p:sp>
        <p:nvSpPr>
          <p:cNvPr id="100199"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b="0">
                <a:solidFill>
                  <a:srgbClr val="FFFFFF"/>
                </a:solidFill>
              </a:rPr>
              <a:t>NutriBot — IBM Granite Nutrition Agentic AI  |  Slide 19</a:t>
            </a:r>
          </a:p>
        </p:txBody>
      </p:sp>
    </p:spTree>
  </p:cSld>
</p:sld>
</file>

<file path=ppt/slides/slide20.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200" name="TopBar"/>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800">
              <a:solidFill>
                <a:srgbClr val="FFFFFF"/>
              </a:solidFill>
            </a:endParaRPr>
          </a:p>
        </p:txBody>
      </p:sp>
      <p:sp>
        <p:nvSpPr>
          <p:cNvPr id="100201" name="SlideTitle"/>
          <p:cNvSpPr txBox="1"/>
          <p:nvPr/>
        </p:nvSpPr>
        <p:spPr>
          <a:xfrm xmlns:a="http://schemas.openxmlformats.org/drawingml/2006/main">
            <a:off x="720000" y="432000"/>
            <a:ext cx="1044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FFFFFF"/>
                </a:solidFill>
                <a:latin typeface="Calibri"/>
                <a:ea typeface="Calibri"/>
              </a:rPr>
              <a:t>Summary &amp; Project Highlights</a:t>
            </a:r>
          </a:p>
        </p:txBody>
      </p:sp>
      <p:sp>
        <p:nvSpPr>
          <p:cNvPr id="100202" name="AccentBar"/>
          <p:cNvSpPr txBox="1"/>
          <p:nvPr/>
        </p:nvSpPr>
        <p:spPr>
          <a:xfrm xmlns:a="http://schemas.openxmlformats.org/drawingml/2006/main">
            <a:off x="720000" y="972000"/>
            <a:ext cx="2160000" cy="54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endParaRPr lang="en-US" sz="800">
              <a:solidFill>
                <a:srgbClr val="6929C4"/>
              </a:solidFill>
            </a:endParaRPr>
          </a:p>
        </p:txBody>
      </p:sp>
      <p:sp>
        <p:nvSpPr>
          <p:cNvPr id="100203" name="H1"/>
          <p:cNvSpPr txBox="1"/>
          <p:nvPr/>
        </p:nvSpPr>
        <p:spPr>
          <a:xfrm xmlns:a="http://schemas.openxmlformats.org/drawingml/2006/main">
            <a:off x="720000" y="1368000"/>
            <a:ext cx="3240000" cy="1800000"/>
          </a:xfrm>
          <a:prstGeom xmlns:a="http://schemas.openxmlformats.org/drawingml/2006/main" prst="rect">
            <a:avLst/>
          </a:prstGeom>
          <a:solidFill xmlns:a="http://schemas.openxmlformats.org/drawingml/2006/main">
            <a:srgbClr val="0F2B4A"/>
          </a:solidFill>
        </p:spPr>
        <p:txBody>
          <a:bodyPr xmlns:a="http://schemas.openxmlformats.org/drawingml/2006/main"/>
          <a:lstStyle xmlns:a="http://schemas.openxmlformats.org/drawingml/2006/main"/>
          <a:p xmlns:a="http://schemas.openxmlformats.org/drawingml/2006/main">
            <a:r>
              <a:rPr lang="en-US" sz="1600" b="0">
                <a:solidFill>
                  <a:srgbClr val="82CFFF"/>
                </a:solidFill>
                <a:latin typeface="Calibri"/>
                <a:ea typeface="Calibri"/>
              </a:rPr>
              <a:t>IBM Granite LLM</a:t>
            </a:r>
          </a:p>
          <a:p xmlns:a="http://schemas.openxmlformats.org/drawingml/2006/main">
            <a:r>
              <a:rPr lang="en-US" sz="1600" b="0">
                <a:solidFill>
                  <a:srgbClr val="82CFFF"/>
                </a:solidFill>
                <a:latin typeface="Calibri"/>
                <a:ea typeface="Calibri"/>
              </a:rPr>
              <a:t>ibm/granite-13b-instruct-v2</a:t>
            </a:r>
          </a:p>
          <a:p xmlns:a="http://schemas.openxmlformats.org/drawingml/2006/main">
            <a:r>
              <a:rPr lang="en-US" sz="1600" b="0">
                <a:solidFill>
                  <a:srgbClr val="82CFFF"/>
                </a:solidFill>
                <a:latin typeface="Calibri"/>
                <a:ea typeface="Calibri"/>
              </a:rPr>
              <a:t>Fully integrated via watsonx.ai</a:t>
            </a:r>
          </a:p>
          <a:p xmlns:a="http://schemas.openxmlformats.org/drawingml/2006/main">
            <a:r>
              <a:rPr lang="en-US" sz="1600" b="0">
                <a:solidFill>
                  <a:srgbClr val="82CFFF"/>
                </a:solidFill>
                <a:latin typeface="Calibri"/>
                <a:ea typeface="Calibri"/>
              </a:rPr>
              <a:t>IAM token authentication</a:t>
            </a:r>
          </a:p>
          <a:p xmlns:a="http://schemas.openxmlformats.org/drawingml/2006/main">
            <a:r>
              <a:rPr lang="en-US" sz="1600" b="0">
                <a:solidFill>
                  <a:srgbClr val="82CFFF"/>
                </a:solidFill>
                <a:latin typeface="Calibri"/>
                <a:ea typeface="Calibri"/>
              </a:rPr>
              <a:t>Intelligent demo fallback</a:t>
            </a:r>
          </a:p>
        </p:txBody>
      </p:sp>
      <p:sp>
        <p:nvSpPr>
          <p:cNvPr id="100204" name="H2"/>
          <p:cNvSpPr txBox="1"/>
          <p:nvPr/>
        </p:nvSpPr>
        <p:spPr>
          <a:xfrm xmlns:a="http://schemas.openxmlformats.org/drawingml/2006/main">
            <a:off x="4500000" y="1368000"/>
            <a:ext cx="3240000" cy="1800000"/>
          </a:xfrm>
          <a:prstGeom xmlns:a="http://schemas.openxmlformats.org/drawingml/2006/main" prst="rect">
            <a:avLst/>
          </a:prstGeom>
          <a:solidFill xmlns:a="http://schemas.openxmlformats.org/drawingml/2006/main">
            <a:srgbClr val="0F2B4A"/>
          </a:solidFill>
        </p:spPr>
        <p:txBody>
          <a:bodyPr xmlns:a="http://schemas.openxmlformats.org/drawingml/2006/main"/>
          <a:lstStyle xmlns:a="http://schemas.openxmlformats.org/drawingml/2006/main"/>
          <a:p xmlns:a="http://schemas.openxmlformats.org/drawingml/2006/main">
            <a:r>
              <a:rPr lang="en-US" sz="1600" b="0">
                <a:solidFill>
                  <a:srgbClr val="C4B5FD"/>
                </a:solidFill>
                <a:latin typeface="Calibri"/>
                <a:ea typeface="Calibri"/>
              </a:rPr>
              <a:t>Agentic AI SDLC</a:t>
            </a:r>
          </a:p>
          <a:p xmlns:a="http://schemas.openxmlformats.org/drawingml/2006/main">
            <a:r>
              <a:rPr lang="en-US" sz="1600" b="0">
                <a:solidFill>
                  <a:srgbClr val="C4B5FD"/>
                </a:solidFill>
                <a:latin typeface="Calibri"/>
                <a:ea typeface="Calibri"/>
              </a:rPr>
              <a:t>All 6 phases in code</a:t>
            </a:r>
          </a:p>
          <a:p xmlns:a="http://schemas.openxmlformats.org/drawingml/2006/main">
            <a:r>
              <a:rPr lang="en-US" sz="1600" b="0">
                <a:solidFill>
                  <a:srgbClr val="C4B5FD"/>
                </a:solidFill>
                <a:latin typeface="Calibri"/>
                <a:ea typeface="Calibri"/>
              </a:rPr>
              <a:t>NutritionAgent pipeline</a:t>
            </a:r>
          </a:p>
          <a:p xmlns:a="http://schemas.openxmlformats.org/drawingml/2006/main">
            <a:r>
              <a:rPr lang="en-US" sz="1600" b="0">
                <a:solidFill>
                  <a:srgbClr val="C4B5FD"/>
                </a:solidFill>
                <a:latin typeface="Calibri"/>
                <a:ea typeface="Calibri"/>
              </a:rPr>
              <a:t>QueryAgent for Q&amp;A</a:t>
            </a:r>
          </a:p>
          <a:p xmlns:a="http://schemas.openxmlformats.org/drawingml/2006/main">
            <a:r>
              <a:rPr lang="en-US" sz="1600" b="0">
                <a:solidFill>
                  <a:srgbClr val="C4B5FD"/>
                </a:solidFill>
                <a:latin typeface="Calibri"/>
                <a:ea typeface="Calibri"/>
              </a:rPr>
              <a:t>Fully autonomous operation</a:t>
            </a:r>
          </a:p>
        </p:txBody>
      </p:sp>
      <p:sp>
        <p:nvSpPr>
          <p:cNvPr id="100205" name="H3"/>
          <p:cNvSpPr txBox="1"/>
          <p:nvPr/>
        </p:nvSpPr>
        <p:spPr>
          <a:xfrm xmlns:a="http://schemas.openxmlformats.org/drawingml/2006/main">
            <a:off x="8280000" y="1368000"/>
            <a:ext cx="3240000" cy="1800000"/>
          </a:xfrm>
          <a:prstGeom xmlns:a="http://schemas.openxmlformats.org/drawingml/2006/main" prst="rect">
            <a:avLst/>
          </a:prstGeom>
          <a:solidFill xmlns:a="http://schemas.openxmlformats.org/drawingml/2006/main">
            <a:srgbClr val="0F2B4A"/>
          </a:solidFill>
        </p:spPr>
        <p:txBody>
          <a:bodyPr xmlns:a="http://schemas.openxmlformats.org/drawingml/2006/main"/>
          <a:lstStyle xmlns:a="http://schemas.openxmlformats.org/drawingml/2006/main"/>
          <a:p xmlns:a="http://schemas.openxmlformats.org/drawingml/2006/main">
            <a:r>
              <a:rPr lang="en-US" sz="1600" b="0">
                <a:solidFill>
                  <a:srgbClr val="6EE7B7"/>
                </a:solidFill>
                <a:latin typeface="Calibri"/>
                <a:ea typeface="Calibri"/>
              </a:rPr>
              <a:t>AI Ethics &amp; Safety</a:t>
            </a:r>
          </a:p>
          <a:p xmlns:a="http://schemas.openxmlformats.org/drawingml/2006/main">
            <a:r>
              <a:rPr lang="en-US" sz="1600" b="0">
                <a:solidFill>
                  <a:srgbClr val="6EE7B7"/>
                </a:solidFill>
                <a:latin typeface="Calibri"/>
                <a:ea typeface="Calibri"/>
              </a:rPr>
              <a:t>HAM framework</a:t>
            </a:r>
          </a:p>
          <a:p xmlns:a="http://schemas.openxmlformats.org/drawingml/2006/main">
            <a:r>
              <a:rPr lang="en-US" sz="1600" b="0">
                <a:solidFill>
                  <a:srgbClr val="6EE7B7"/>
                </a:solidFill>
                <a:latin typeface="Calibri"/>
                <a:ea typeface="Calibri"/>
              </a:rPr>
              <a:t>5-layer safety pipeline</a:t>
            </a:r>
          </a:p>
          <a:p xmlns:a="http://schemas.openxmlformats.org/drawingml/2006/main">
            <a:r>
              <a:rPr lang="en-US" sz="1600" b="0">
                <a:solidFill>
                  <a:srgbClr val="6EE7B7"/>
                </a:solidFill>
                <a:latin typeface="Calibri"/>
                <a:ea typeface="Calibri"/>
              </a:rPr>
              <a:t>Medical disclaimer</a:t>
            </a:r>
          </a:p>
          <a:p xmlns:a="http://schemas.openxmlformats.org/drawingml/2006/main">
            <a:r>
              <a:rPr lang="en-US" sz="1600" b="0">
                <a:solidFill>
                  <a:srgbClr val="6EE7B7"/>
                </a:solidFill>
                <a:latin typeface="Calibri"/>
                <a:ea typeface="Calibri"/>
              </a:rPr>
              <a:t>No harmful advice possible</a:t>
            </a:r>
          </a:p>
        </p:txBody>
      </p:sp>
      <p:sp>
        <p:nvSpPr>
          <p:cNvPr id="100206" name="H4"/>
          <p:cNvSpPr txBox="1"/>
          <p:nvPr/>
        </p:nvSpPr>
        <p:spPr>
          <a:xfrm xmlns:a="http://schemas.openxmlformats.org/drawingml/2006/main">
            <a:off x="720000" y="3420000"/>
            <a:ext cx="3240000" cy="1620000"/>
          </a:xfrm>
          <a:prstGeom xmlns:a="http://schemas.openxmlformats.org/drawingml/2006/main" prst="rect">
            <a:avLst/>
          </a:prstGeom>
          <a:solidFill xmlns:a="http://schemas.openxmlformats.org/drawingml/2006/main">
            <a:srgbClr val="0F2B4A"/>
          </a:solidFill>
        </p:spPr>
        <p:txBody>
          <a:bodyPr xmlns:a="http://schemas.openxmlformats.org/drawingml/2006/main"/>
          <a:lstStyle xmlns:a="http://schemas.openxmlformats.org/drawingml/2006/main"/>
          <a:p xmlns:a="http://schemas.openxmlformats.org/drawingml/2006/main">
            <a:r>
              <a:rPr lang="en-US" sz="1600" b="0">
                <a:solidFill>
                  <a:srgbClr val="FCD34D"/>
                </a:solidFill>
                <a:latin typeface="Calibri"/>
                <a:ea typeface="Calibri"/>
              </a:rPr>
              <a:t>Real Output Generated</a:t>
            </a:r>
          </a:p>
          <a:p xmlns:a="http://schemas.openxmlformats.org/drawingml/2006/main">
            <a:r>
              <a:rPr lang="en-US" sz="1600" b="0">
                <a:solidFill>
                  <a:srgbClr val="FCD34D"/>
                </a:solidFill>
                <a:latin typeface="Calibri"/>
                <a:ea typeface="Calibri"/>
              </a:rPr>
              <a:t>3 .md plans saved</a:t>
            </a:r>
          </a:p>
          <a:p xmlns:a="http://schemas.openxmlformats.org/drawingml/2006/main">
            <a:r>
              <a:rPr lang="en-US" sz="1600" b="0">
                <a:solidFill>
                  <a:srgbClr val="FCD34D"/>
                </a:solidFill>
                <a:latin typeface="Calibri"/>
                <a:ea typeface="Calibri"/>
              </a:rPr>
              <a:t>Priya Sharma (Diabetes)</a:t>
            </a:r>
          </a:p>
          <a:p xmlns:a="http://schemas.openxmlformats.org/drawingml/2006/main">
            <a:r>
              <a:rPr lang="en-US" sz="1600" b="0">
                <a:solidFill>
                  <a:srgbClr val="FCD34D"/>
                </a:solidFill>
                <a:latin typeface="Calibri"/>
                <a:ea typeface="Calibri"/>
              </a:rPr>
              <a:t>Ravi Kumar (Hypertension)</a:t>
            </a:r>
          </a:p>
          <a:p xmlns:a="http://schemas.openxmlformats.org/drawingml/2006/main">
            <a:r>
              <a:rPr lang="en-US" sz="1600" b="0">
                <a:solidFill>
                  <a:srgbClr val="FCD34D"/>
                </a:solidFill>
                <a:latin typeface="Calibri"/>
                <a:ea typeface="Calibri"/>
              </a:rPr>
              <a:t>Test User (Verified API)</a:t>
            </a:r>
          </a:p>
        </p:txBody>
      </p:sp>
      <p:sp>
        <p:nvSpPr>
          <p:cNvPr id="100207" name="H5"/>
          <p:cNvSpPr txBox="1"/>
          <p:nvPr/>
        </p:nvSpPr>
        <p:spPr>
          <a:xfrm xmlns:a="http://schemas.openxmlformats.org/drawingml/2006/main">
            <a:off x="4500000" y="3420000"/>
            <a:ext cx="3240000" cy="1620000"/>
          </a:xfrm>
          <a:prstGeom xmlns:a="http://schemas.openxmlformats.org/drawingml/2006/main" prst="rect">
            <a:avLst/>
          </a:prstGeom>
          <a:solidFill xmlns:a="http://schemas.openxmlformats.org/drawingml/2006/main">
            <a:srgbClr val="0F2B4A"/>
          </a:solidFill>
        </p:spPr>
        <p:txBody>
          <a:bodyPr xmlns:a="http://schemas.openxmlformats.org/drawingml/2006/main"/>
          <a:lstStyle xmlns:a="http://schemas.openxmlformats.org/drawingml/2006/main"/>
          <a:p xmlns:a="http://schemas.openxmlformats.org/drawingml/2006/main">
            <a:r>
              <a:rPr lang="en-US" sz="1600" b="0">
                <a:solidFill>
                  <a:srgbClr val="FCD34D"/>
                </a:solidFill>
                <a:latin typeface="Calibri"/>
                <a:ea typeface="Calibri"/>
              </a:rPr>
              <a:t>Full Web Application</a:t>
            </a:r>
          </a:p>
          <a:p xmlns:a="http://schemas.openxmlformats.org/drawingml/2006/main">
            <a:r>
              <a:rPr lang="en-US" sz="1600" b="0">
                <a:solidFill>
                  <a:srgbClr val="FCD34D"/>
                </a:solidFill>
                <a:latin typeface="Calibri"/>
                <a:ea typeface="Calibri"/>
              </a:rPr>
              <a:t>Flask REST API (6 routes)</a:t>
            </a:r>
          </a:p>
          <a:p xmlns:a="http://schemas.openxmlformats.org/drawingml/2006/main">
            <a:r>
              <a:rPr lang="en-US" sz="1600" b="0">
                <a:solidFill>
                  <a:srgbClr val="FCD34D"/>
                </a:solidFill>
                <a:latin typeface="Calibri"/>
                <a:ea typeface="Calibri"/>
              </a:rPr>
              <a:t>Responsive single-page UI</a:t>
            </a:r>
          </a:p>
          <a:p xmlns:a="http://schemas.openxmlformats.org/drawingml/2006/main">
            <a:r>
              <a:rPr lang="en-US" sz="1600" b="0">
                <a:solidFill>
                  <a:srgbClr val="FCD34D"/>
                </a:solidFill>
                <a:latin typeface="Calibri"/>
                <a:ea typeface="Calibri"/>
              </a:rPr>
              <a:t>3-step profile wizard</a:t>
            </a:r>
          </a:p>
          <a:p xmlns:a="http://schemas.openxmlformats.org/drawingml/2006/main">
            <a:r>
              <a:rPr lang="en-US" sz="1600" b="0">
                <a:solidFill>
                  <a:srgbClr val="FCD34D"/>
                </a:solidFill>
                <a:latin typeface="Calibri"/>
                <a:ea typeface="Calibri"/>
              </a:rPr>
              <a:t>Chat Q&amp;A  |  Plans history</a:t>
            </a:r>
          </a:p>
        </p:txBody>
      </p:sp>
      <p:sp>
        <p:nvSpPr>
          <p:cNvPr id="100208" name="H6"/>
          <p:cNvSpPr txBox="1"/>
          <p:nvPr/>
        </p:nvSpPr>
        <p:spPr>
          <a:xfrm xmlns:a="http://schemas.openxmlformats.org/drawingml/2006/main">
            <a:off x="8280000" y="3420000"/>
            <a:ext cx="3240000" cy="1620000"/>
          </a:xfrm>
          <a:prstGeom xmlns:a="http://schemas.openxmlformats.org/drawingml/2006/main" prst="rect">
            <a:avLst/>
          </a:prstGeom>
          <a:solidFill xmlns:a="http://schemas.openxmlformats.org/drawingml/2006/main">
            <a:srgbClr val="0F2B4A"/>
          </a:solidFill>
        </p:spPr>
        <p:txBody>
          <a:bodyPr xmlns:a="http://schemas.openxmlformats.org/drawingml/2006/main"/>
          <a:lstStyle xmlns:a="http://schemas.openxmlformats.org/drawingml/2006/main"/>
          <a:p xmlns:a="http://schemas.openxmlformats.org/drawingml/2006/main">
            <a:r>
              <a:rPr lang="en-US" sz="1600" b="0">
                <a:solidFill>
                  <a:srgbClr val="A8B8C8"/>
                </a:solidFill>
                <a:latin typeface="Calibri"/>
                <a:ea typeface="Calibri"/>
              </a:rPr>
              <a:t>GitHub Deployed</a:t>
            </a:r>
          </a:p>
          <a:p xmlns:a="http://schemas.openxmlformats.org/drawingml/2006/main">
            <a:r>
              <a:rPr lang="en-US" sz="1600" b="0">
                <a:solidFill>
                  <a:srgbClr val="A8B8C8"/>
                </a:solidFill>
                <a:latin typeface="Calibri"/>
                <a:ea typeface="Calibri"/>
              </a:rPr>
              <a:t>github.com/Hiren-Modha</a:t>
            </a:r>
          </a:p>
          <a:p xmlns:a="http://schemas.openxmlformats.org/drawingml/2006/main">
            <a:r>
              <a:rPr lang="en-US" sz="1600" b="0">
                <a:solidFill>
                  <a:srgbClr val="A8B8C8"/>
                </a:solidFill>
                <a:latin typeface="Calibri"/>
                <a:ea typeface="Calibri"/>
              </a:rPr>
              <a:t>/Nutrient-Agent</a:t>
            </a:r>
          </a:p>
          <a:p xmlns:a="http://schemas.openxmlformats.org/drawingml/2006/main">
            <a:r>
              <a:rPr lang="en-US" sz="1600" b="0">
                <a:solidFill>
                  <a:srgbClr val="A8B8C8"/>
                </a:solidFill>
                <a:latin typeface="Calibri"/>
                <a:ea typeface="Calibri"/>
              </a:rPr>
              <a:t>21 files  |  2,900+ lines</a:t>
            </a:r>
          </a:p>
          <a:p xmlns:a="http://schemas.openxmlformats.org/drawingml/2006/main">
            <a:r>
              <a:rPr lang="en-US" sz="1600" b="0">
                <a:solidFill>
                  <a:srgbClr val="A8B8C8"/>
                </a:solidFill>
                <a:latin typeface="Calibri"/>
                <a:ea typeface="Calibri"/>
              </a:rPr>
              <a:t>Commit: adbbbf7</a:t>
            </a:r>
          </a:p>
        </p:txBody>
      </p:sp>
      <p:sp>
        <p:nvSpPr>
          <p:cNvPr id="100209" name="Closing"/>
          <p:cNvSpPr txBox="1"/>
          <p:nvPr/>
        </p:nvSpPr>
        <p:spPr>
          <a:xfrm xmlns:a="http://schemas.openxmlformats.org/drawingml/2006/main">
            <a:off x="720000" y="5580000"/>
            <a:ext cx="10440000" cy="54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800" b="1">
                <a:solidFill>
                  <a:srgbClr val="FFFFFF"/>
                </a:solidFill>
                <a:latin typeface="Calibri"/>
                <a:ea typeface="Calibri"/>
              </a:rPr>
              <a:t>NutriBot — IBM Granite Nutrition Agentic AI  |  All tests passed  |  Live on GitHub  |  Ready to demo</a:t>
            </a:r>
          </a:p>
        </p:txBody>
      </p:sp>
      <p:sp>
        <p:nvSpPr>
          <p:cNvPr id="100210" name="BottomBar"/>
          <p:cNvSpPr txBox="1"/>
          <p:nvPr/>
        </p:nvSpPr>
        <p:spPr>
          <a:xfrm xmlns:a="http://schemas.openxmlformats.org/drawingml/2006/main">
            <a:off x="0" y="6552000"/>
            <a:ext cx="12193200" cy="324000"/>
          </a:xfrm>
          <a:prstGeom xmlns:a="http://schemas.openxmlformats.org/drawingml/2006/main" prst="rect">
            <a:avLst/>
          </a:prstGeom>
          <a:solidFill xmlns:a="http://schemas.openxmlformats.org/drawingml/2006/main">
            <a:srgbClr val="6929C4"/>
          </a:solidFill>
        </p:spPr>
        <p:txBody>
          <a:bodyPr xmlns:a="http://schemas.openxmlformats.org/drawingml/2006/main"/>
          <a:lstStyle xmlns:a="http://schemas.openxmlformats.org/drawingml/2006/main"/>
          <a:p xmlns:a="http://schemas.openxmlformats.org/drawingml/2006/main">
            <a:r>
              <a:rPr lang="en-US" sz="1200" b="0">
                <a:solidFill>
                  <a:srgbClr val="FFFFFF"/>
                </a:solidFill>
              </a:rPr>
              <a:t>NutriBot — IBM Granite Nutrition Agentic AI  |  Slide 20 of 20</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2026-10-11T07:53:58Z</dcterms:created>
  <cp:lastModifiedBy>OfficeCLI</cp:lastModifiedBy>
  <dcterms:modified xsi:type="dcterms:W3CDTF">2026-10-11T07:53:58Z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1.0.144</vt:lpwstr>
  </op:property>
  <op:property fmtid="{D5CDD505-2E9C-101B-9397-08002B2CF9AE}" pid="3" name="OfficeCLI.LastModified">
    <vt:lpwstr xmlns:vt="http://schemas.openxmlformats.org/officeDocument/2006/docPropsVTypes">2026-10-11T07:58:36Z</vt:lpwstr>
  </op:property>
</op:Properties>
</file>